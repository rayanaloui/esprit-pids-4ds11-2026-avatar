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123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_vital.png"/>
          <p:cNvPicPr>
            <a:picLocks noChangeAspect="1"/>
          </p:cNvPicPr>
          <p:nvPr/>
        </p:nvPicPr>
        <p:blipFill>
          <a:blip r:embed="rId2"/>
          <a:stretch>
            <a:fillRect/>
          </a:stretch>
        </p:blipFill>
        <p:spPr>
          <a:xfrm>
            <a:off x="4023360" y="731520"/>
            <a:ext cx="1097280" cy="1170432"/>
          </a:xfrm>
          <a:prstGeom prst="rect">
            <a:avLst/>
          </a:prstGeom>
        </p:spPr>
      </p:pic>
      <p:sp>
        <p:nvSpPr>
          <p:cNvPr id="3" name="Rectangle 2"/>
          <p:cNvSpPr/>
          <p:nvPr/>
        </p:nvSpPr>
        <p:spPr>
          <a:xfrm>
            <a:off x="0" y="2743200"/>
            <a:ext cx="9144000" cy="27432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3017520"/>
            <a:ext cx="9144000" cy="914400"/>
          </a:xfrm>
          <a:prstGeom prst="rect">
            <a:avLst/>
          </a:prstGeom>
          <a:noFill/>
        </p:spPr>
        <p:txBody>
          <a:bodyPr wrap="square">
            <a:normAutofit/>
          </a:bodyPr>
          <a:lstStyle/>
          <a:p>
            <a:pPr algn="ctr">
              <a:defRPr sz="5400" b="1">
                <a:solidFill>
                  <a:srgbClr val="FFFFFF"/>
                </a:solidFill>
              </a:defRPr>
            </a:pPr>
            <a:r>
              <a:t>Vitonic Junior</a:t>
            </a:r>
          </a:p>
        </p:txBody>
      </p:sp>
      <p:sp>
        <p:nvSpPr>
          <p:cNvPr id="5" name="TextBox 4"/>
          <p:cNvSpPr txBox="1"/>
          <p:nvPr/>
        </p:nvSpPr>
        <p:spPr>
          <a:xfrm>
            <a:off x="0" y="4114800"/>
            <a:ext cx="9144000" cy="914400"/>
          </a:xfrm>
          <a:prstGeom prst="rect">
            <a:avLst/>
          </a:prstGeom>
          <a:noFill/>
        </p:spPr>
        <p:txBody>
          <a:bodyPr wrap="square">
            <a:normAutofit/>
          </a:bodyPr>
          <a:lstStyle/>
          <a:p>
            <a:pPr algn="ctr">
              <a:defRPr sz="2200" i="1">
                <a:solidFill>
                  <a:srgbClr val="009999"/>
                </a:solidFill>
              </a:defRPr>
            </a:pPr>
            <a:r>
              <a:t>Développez la santé bucco-dentaire de vos enfants avec Vitonic Junior, le produit innovant du groupe Vital.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sz="2400" b="1">
                <a:solidFill>
                  <a:srgbClr val="003366"/>
                </a:solidFill>
              </a:defRPr>
            </a:pPr>
            <a:r>
              <a:t>ANALYSE ET ENJEUX</a:t>
            </a:r>
          </a:p>
        </p:txBody>
      </p:sp>
      <p:sp>
        <p:nvSpPr>
          <p:cNvPr id="5" name="TextBox 4"/>
          <p:cNvSpPr txBox="1"/>
          <p:nvPr/>
        </p:nvSpPr>
        <p:spPr>
          <a:xfrm>
            <a:off x="731520" y="1645920"/>
            <a:ext cx="7772400" cy="4572000"/>
          </a:xfrm>
          <a:prstGeom prst="rect">
            <a:avLst/>
          </a:prstGeom>
          <a:noFill/>
        </p:spPr>
        <p:txBody>
          <a:bodyPr wrap="square">
            <a:normAutofit/>
          </a:bodyPr>
          <a:lstStyle/>
          <a:p>
            <a:pPr>
              <a:defRPr sz="2200">
                <a:solidFill>
                  <a:srgbClr val="212121"/>
                </a:solidFill>
              </a:defRPr>
            </a:pPr>
            <a:r>
              <a:t>Les parents sont souvent préoccupés par les problèmes de santé bucco-dentaire chez leurs enfants. La malbouche, les caries dentaires et l'odontalité en général constituent des sujets sensibles pour les familles. Les solutions traditionnelles peuvent être inefficaces ou peu agréables pour les enfants. C'est pourquoi les parents recherchent un produit qui soit à la fois efficace et agréable.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sz="2400" b="1">
                <a:solidFill>
                  <a:srgbClr val="003366"/>
                </a:solidFill>
              </a:defRPr>
            </a:pPr>
            <a:r>
              <a:t>LA RÉPONSE VITAL LABS</a:t>
            </a:r>
          </a:p>
        </p:txBody>
      </p:sp>
      <p:sp>
        <p:nvSpPr>
          <p:cNvPr id="5" name="TextBox 4"/>
          <p:cNvSpPr txBox="1"/>
          <p:nvPr/>
        </p:nvSpPr>
        <p:spPr>
          <a:xfrm>
            <a:off x="457200" y="1463040"/>
            <a:ext cx="4389120" cy="4572000"/>
          </a:xfrm>
          <a:prstGeom prst="rect">
            <a:avLst/>
          </a:prstGeom>
          <a:noFill/>
        </p:spPr>
        <p:txBody>
          <a:bodyPr wrap="square">
            <a:normAutofit/>
          </a:bodyPr>
          <a:lstStyle/>
          <a:p>
            <a:pPr>
              <a:defRPr sz="1800"/>
            </a:pPr>
            <a:endParaRPr/>
          </a:p>
        </p:txBody>
      </p:sp>
      <p:pic>
        <p:nvPicPr>
          <p:cNvPr id="6" name="Picture 5" descr="image.png"/>
          <p:cNvPicPr>
            <a:picLocks noChangeAspect="1"/>
          </p:cNvPicPr>
          <p:nvPr/>
        </p:nvPicPr>
        <p:blipFill>
          <a:blip r:embed="rId3"/>
          <a:stretch>
            <a:fillRect/>
          </a:stretch>
        </p:blipFill>
        <p:spPr>
          <a:xfrm>
            <a:off x="5193792" y="1371600"/>
            <a:ext cx="3291840" cy="43891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sz="2400" b="1">
                <a:solidFill>
                  <a:srgbClr val="003366"/>
                </a:solidFill>
              </a:defRPr>
            </a:pPr>
            <a:r>
              <a:t>PILIERS DE PERFORMANCE</a:t>
            </a:r>
          </a:p>
        </p:txBody>
      </p:sp>
      <p:sp>
        <p:nvSpPr>
          <p:cNvPr id="5" name="TextBox 4"/>
          <p:cNvSpPr txBox="1"/>
          <p:nvPr/>
        </p:nvSpPr>
        <p:spPr>
          <a:xfrm>
            <a:off x="731520" y="1371600"/>
            <a:ext cx="7772400" cy="5029200"/>
          </a:xfrm>
          <a:prstGeom prst="rect">
            <a:avLst/>
          </a:prstGeom>
          <a:noFill/>
        </p:spPr>
        <p:txBody>
          <a:bodyPr wrap="square">
            <a:normAutofit/>
          </a:bodyPr>
          <a:lstStyle/>
          <a:p>
            <a:pPr>
              <a:defRPr sz="1800"/>
            </a:pPr>
            <a:r>
              <a:t>- Effet immédiat : Nettoyage efficace des dents en un seul usage.</a:t>
            </a:r>
            <a:br/>
            <a:r>
              <a:t>- Formule naturelle : Ingrédients sûrs pour les enfants et leur environnement.</a:t>
            </a:r>
            <a:br/>
            <a:r>
              <a:t>- Protection anti-caries : Prévention des caries dentaires grâce à la présence de fluorure.</a:t>
            </a:r>
            <a:br/>
            <a:r>
              <a:t>- Agréable au goût : Formulation douce et agréable pour les enfants.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sz="2400" b="1">
                <a:solidFill>
                  <a:srgbClr val="003366"/>
                </a:solidFill>
              </a:defRPr>
            </a:pPr>
            <a:r>
              <a:t>ENGAGEMENT QUALITÉ &amp; SCIENCE</a:t>
            </a:r>
          </a:p>
        </p:txBody>
      </p:sp>
      <p:sp>
        <p:nvSpPr>
          <p:cNvPr id="5" name="TextBox 4"/>
          <p:cNvSpPr txBox="1"/>
          <p:nvPr/>
        </p:nvSpPr>
        <p:spPr>
          <a:xfrm>
            <a:off x="731520" y="1371600"/>
            <a:ext cx="7772400" cy="2011680"/>
          </a:xfrm>
          <a:prstGeom prst="rect">
            <a:avLst/>
          </a:prstGeom>
          <a:noFill/>
        </p:spPr>
        <p:txBody>
          <a:bodyPr wrap="square">
            <a:normAutofit/>
          </a:bodyPr>
          <a:lstStyle/>
          <a:p>
            <a:pPr>
              <a:defRPr sz="2000"/>
            </a:pPr>
            <a:r>
              <a:t>La fabrication de Vitonic Junior est assurée par nos expertes qui utilisent des matériaux de haute qualité et des techniques de production avancées. La suspension est conçue pour être facile à utiliser et pour promouvoir une bonne hygiène bucco-dentaire.</a:t>
            </a:r>
          </a:p>
        </p:txBody>
      </p:sp>
      <p:graphicFrame>
        <p:nvGraphicFramePr>
          <p:cNvPr id="6" name="Table 5"/>
          <p:cNvGraphicFramePr>
            <a:graphicFrameLocks noGrp="1"/>
          </p:cNvGraphicFramePr>
          <p:nvPr/>
        </p:nvGraphicFramePr>
        <p:xfrm>
          <a:off x="731520" y="3657600"/>
          <a:ext cx="7680960" cy="18288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457200">
                <a:tc>
                  <a:txBody>
                    <a:bodyPr/>
                    <a:lstStyle/>
                    <a:p>
                      <a:pPr>
                        <a:defRPr sz="1800" b="1">
                          <a:solidFill>
                            <a:srgbClr val="003366"/>
                          </a:solidFill>
                        </a:defRPr>
                      </a:pPr>
                      <a:r>
                        <a:t>Catégorie</a:t>
                      </a:r>
                    </a:p>
                  </a:txBody>
                  <a:tcPr>
                    <a:solidFill>
                      <a:srgbClr val="F5F5F5"/>
                    </a:solidFill>
                  </a:tcPr>
                </a:tc>
                <a:tc>
                  <a:txBody>
                    <a:bodyPr/>
                    <a:lstStyle/>
                    <a:p>
                      <a:pPr>
                        <a:defRPr sz="1800">
                          <a:solidFill>
                            <a:srgbClr val="212121"/>
                          </a:solidFill>
                        </a:defRPr>
                      </a:pPr>
                      <a:r>
                        <a:t>Revitalisant</a:t>
                      </a:r>
                    </a:p>
                  </a:txBody>
                  <a:tcPr/>
                </a:tc>
                <a:extLst>
                  <a:ext uri="{0D108BD9-81ED-4DB2-BD59-A6C34878D82A}">
                    <a16:rowId xmlns:a16="http://schemas.microsoft.com/office/drawing/2014/main" val="10000"/>
                  </a:ext>
                </a:extLst>
              </a:tr>
              <a:tr h="457200">
                <a:tc>
                  <a:txBody>
                    <a:bodyPr/>
                    <a:lstStyle/>
                    <a:p>
                      <a:pPr>
                        <a:defRPr sz="1800" b="1">
                          <a:solidFill>
                            <a:srgbClr val="003366"/>
                          </a:solidFill>
                        </a:defRPr>
                      </a:pPr>
                      <a:r>
                        <a:t>Classe</a:t>
                      </a:r>
                    </a:p>
                  </a:txBody>
                  <a:tcPr>
                    <a:solidFill>
                      <a:srgbClr val="F5F5F5"/>
                    </a:solidFill>
                  </a:tcPr>
                </a:tc>
                <a:tc>
                  <a:txBody>
                    <a:bodyPr/>
                    <a:lstStyle/>
                    <a:p>
                      <a:pPr>
                        <a:defRPr sz="1800">
                          <a:solidFill>
                            <a:srgbClr val="212121"/>
                          </a:solidFill>
                        </a:defRPr>
                      </a:pPr>
                      <a:r>
                        <a:t>Complément alimentaire</a:t>
                      </a:r>
                    </a:p>
                  </a:txBody>
                  <a:tcPr/>
                </a:tc>
                <a:extLst>
                  <a:ext uri="{0D108BD9-81ED-4DB2-BD59-A6C34878D82A}">
                    <a16:rowId xmlns:a16="http://schemas.microsoft.com/office/drawing/2014/main" val="10001"/>
                  </a:ext>
                </a:extLst>
              </a:tr>
              <a:tr h="457200">
                <a:tc>
                  <a:txBody>
                    <a:bodyPr/>
                    <a:lstStyle/>
                    <a:p>
                      <a:pPr>
                        <a:defRPr sz="1800" b="1">
                          <a:solidFill>
                            <a:srgbClr val="003366"/>
                          </a:solidFill>
                        </a:defRPr>
                      </a:pPr>
                      <a:r>
                        <a:t>Forme</a:t>
                      </a:r>
                    </a:p>
                  </a:txBody>
                  <a:tcPr>
                    <a:solidFill>
                      <a:srgbClr val="F5F5F5"/>
                    </a:solidFill>
                  </a:tcPr>
                </a:tc>
                <a:tc>
                  <a:txBody>
                    <a:bodyPr/>
                    <a:lstStyle/>
                    <a:p>
                      <a:pPr>
                        <a:defRPr sz="1800">
                          <a:solidFill>
                            <a:srgbClr val="212121"/>
                          </a:solidFill>
                        </a:defRPr>
                      </a:pPr>
                      <a:r>
                        <a:t>Suspension</a:t>
                      </a:r>
                    </a:p>
                  </a:txBody>
                  <a:tcPr/>
                </a:tc>
                <a:extLst>
                  <a:ext uri="{0D108BD9-81ED-4DB2-BD59-A6C34878D82A}">
                    <a16:rowId xmlns:a16="http://schemas.microsoft.com/office/drawing/2014/main" val="10002"/>
                  </a:ext>
                </a:extLst>
              </a:tr>
              <a:tr h="457200">
                <a:tc>
                  <a:txBody>
                    <a:bodyPr/>
                    <a:lstStyle/>
                    <a:p>
                      <a:pPr>
                        <a:defRPr sz="1800" b="1">
                          <a:solidFill>
                            <a:srgbClr val="003366"/>
                          </a:solidFill>
                        </a:defRPr>
                      </a:pPr>
                      <a:r>
                        <a:t>Conditionnement</a:t>
                      </a:r>
                    </a:p>
                  </a:txBody>
                  <a:tcPr>
                    <a:solidFill>
                      <a:srgbClr val="F5F5F5"/>
                    </a:solidFill>
                  </a:tcPr>
                </a:tc>
                <a:tc>
                  <a:txBody>
                    <a:bodyPr/>
                    <a:lstStyle/>
                    <a:p>
                      <a:pPr>
                        <a:defRPr sz="1800">
                          <a:solidFill>
                            <a:srgbClr val="212121"/>
                          </a:solidFill>
                        </a:defRPr>
                      </a:pPr>
                      <a:r>
                        <a:t>Flacon de 90 ml + une pipette</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sz="2400" b="1">
                <a:solidFill>
                  <a:srgbClr val="003366"/>
                </a:solidFill>
              </a:defRPr>
            </a:pPr>
            <a:r>
              <a:t>SYNTHÈSE &amp; ENGAGEMENT</a:t>
            </a:r>
          </a:p>
        </p:txBody>
      </p:sp>
      <p:sp>
        <p:nvSpPr>
          <p:cNvPr id="5" name="TextBox 4"/>
          <p:cNvSpPr txBox="1"/>
          <p:nvPr/>
        </p:nvSpPr>
        <p:spPr>
          <a:xfrm>
            <a:off x="914400" y="2743200"/>
            <a:ext cx="7315200" cy="2743200"/>
          </a:xfrm>
          <a:prstGeom prst="rect">
            <a:avLst/>
          </a:prstGeom>
          <a:noFill/>
        </p:spPr>
        <p:txBody>
          <a:bodyPr wrap="square">
            <a:normAutofit/>
          </a:bodyPr>
          <a:lstStyle/>
          <a:p>
            <a:pPr algn="ctr">
              <a:defRPr sz="3200" b="1">
                <a:solidFill>
                  <a:srgbClr val="009999"/>
                </a:solidFill>
              </a:defRPr>
            </a:pPr>
            <a:r>
              <a:t>Rejoignez la famille Vital et donnez à vos enfants les outils nécessaires pour une santé bucco-dentaire optimale avec Vitonic Junior. Découvrez notre produit et prenez le premier pas vers un sourire sain et heureux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248</Words>
  <Application>Microsoft Office PowerPoint</Application>
  <PresentationFormat>On-screen Show (4:3)</PresentationFormat>
  <Paragraphs>19</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Yassine Janfaoui</cp:lastModifiedBy>
  <cp:revision>2</cp:revision>
  <dcterms:created xsi:type="dcterms:W3CDTF">2013-01-27T09:14:16Z</dcterms:created>
  <dcterms:modified xsi:type="dcterms:W3CDTF">2026-04-13T22:00:54Z</dcterms:modified>
  <cp:category/>
</cp:coreProperties>
</file>