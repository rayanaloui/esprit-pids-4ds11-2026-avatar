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_vital.png"/>
          <p:cNvPicPr>
            <a:picLocks noChangeAspect="1"/>
          </p:cNvPicPr>
          <p:nvPr/>
        </p:nvPicPr>
        <p:blipFill>
          <a:blip r:embed="rId2"/>
          <a:stretch>
            <a:fillRect/>
          </a:stretch>
        </p:blipFill>
        <p:spPr>
          <a:xfrm>
            <a:off x="4023360" y="731520"/>
            <a:ext cx="1097280" cy="1170432"/>
          </a:xfrm>
          <a:prstGeom prst="rect">
            <a:avLst/>
          </a:prstGeom>
        </p:spPr>
      </p:pic>
      <p:sp>
        <p:nvSpPr>
          <p:cNvPr id="3" name="Rectangle 2"/>
          <p:cNvSpPr/>
          <p:nvPr/>
        </p:nvSpPr>
        <p:spPr>
          <a:xfrm>
            <a:off x="0" y="2743200"/>
            <a:ext cx="9144000" cy="2743200"/>
          </a:xfrm>
          <a:prstGeom prst="rect">
            <a:avLst/>
          </a:prstGeom>
          <a:solidFill>
            <a:srgbClr val="003366"/>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3017520"/>
            <a:ext cx="9144000" cy="914400"/>
          </a:xfrm>
          <a:prstGeom prst="rect">
            <a:avLst/>
          </a:prstGeom>
          <a:noFill/>
        </p:spPr>
        <p:txBody>
          <a:bodyPr wrap="square">
            <a:normAutofit/>
          </a:bodyPr>
          <a:lstStyle/>
          <a:p>
            <a:pPr algn="ctr">
              <a:defRPr sz="5400" b="1">
                <a:solidFill>
                  <a:srgbClr val="FFFFFF"/>
                </a:solidFill>
              </a:defRPr>
            </a:pPr>
            <a:r>
              <a:t>Vaseline</a:t>
            </a:r>
          </a:p>
        </p:txBody>
      </p:sp>
      <p:sp>
        <p:nvSpPr>
          <p:cNvPr id="5" name="TextBox 4"/>
          <p:cNvSpPr txBox="1"/>
          <p:nvPr/>
        </p:nvSpPr>
        <p:spPr>
          <a:xfrm>
            <a:off x="0" y="4114800"/>
            <a:ext cx="9144000" cy="914400"/>
          </a:xfrm>
          <a:prstGeom prst="rect">
            <a:avLst/>
          </a:prstGeom>
          <a:noFill/>
        </p:spPr>
        <p:txBody>
          <a:bodyPr wrap="square">
            <a:normAutofit/>
          </a:bodyPr>
          <a:lstStyle/>
          <a:p>
            <a:pPr algn="ctr">
              <a:defRPr sz="2200" i="1">
                <a:solidFill>
                  <a:srgbClr val="009999"/>
                </a:solidFill>
              </a:defRPr>
            </a:pPr>
            <a:r>
              <a:t>L'innovation au service de votre santé.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ANALYSE ET ENJEUX</a:t>
            </a:r>
          </a:p>
        </p:txBody>
      </p:sp>
      <p:sp>
        <p:nvSpPr>
          <p:cNvPr id="5" name="TextBox 4"/>
          <p:cNvSpPr txBox="1"/>
          <p:nvPr/>
        </p:nvSpPr>
        <p:spPr>
          <a:xfrm>
            <a:off x="731520" y="1645920"/>
            <a:ext cx="7772400" cy="4572000"/>
          </a:xfrm>
          <a:prstGeom prst="rect">
            <a:avLst/>
          </a:prstGeom>
          <a:noFill/>
        </p:spPr>
        <p:txBody>
          <a:bodyPr wrap="square">
            <a:normAutofit/>
          </a:bodyPr>
          <a:lstStyle/>
          <a:p>
            <a:pPr>
              <a:defRPr sz="2200">
                <a:solidFill>
                  <a:srgbClr val="212121"/>
                </a:solidFill>
              </a:defRPr>
            </a:pPr>
            <a:r>
              <a:t>Les patients souffrent souvent d'efflorescences cutanées, de sécheresse et de douleurs articulaires dues à l'absence de lubrification suffisante. Le manque d'hydratation peut entraîner une perte de la fonctionnement des tissus, conduisant à des problèmes de santé graves.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LA RÉPONSE VITAL LABS</a:t>
            </a:r>
          </a:p>
        </p:txBody>
      </p:sp>
      <p:sp>
        <p:nvSpPr>
          <p:cNvPr id="5" name="TextBox 4"/>
          <p:cNvSpPr txBox="1"/>
          <p:nvPr/>
        </p:nvSpPr>
        <p:spPr>
          <a:xfrm>
            <a:off x="457200" y="1463040"/>
            <a:ext cx="4389120" cy="4572000"/>
          </a:xfrm>
          <a:prstGeom prst="rect">
            <a:avLst/>
          </a:prstGeom>
          <a:noFill/>
        </p:spPr>
        <p:txBody>
          <a:bodyPr wrap="square">
            <a:normAutofit/>
          </a:bodyPr>
          <a:lstStyle/>
          <a:p>
            <a:pPr>
              <a:defRPr sz="1800"/>
            </a:pPr>
            <a:r>
              <a:t>Vaseline, la crème hydratante et lubrifiante par excellence, utilise un mélange unique de composés naturels pour créer une barrière protectrice qui maintient l'humidité du corps. Notre formule exclusive permet de réhydrater les tissus, de soulager les douleurs articulaires et d'éliminer les efflorescences cutanées.</a:t>
            </a:r>
          </a:p>
        </p:txBody>
      </p:sp>
      <p:pic>
        <p:nvPicPr>
          <p:cNvPr id="6" name="Picture 5" descr="image.png"/>
          <p:cNvPicPr>
            <a:picLocks noChangeAspect="1"/>
          </p:cNvPicPr>
          <p:nvPr/>
        </p:nvPicPr>
        <p:blipFill>
          <a:blip r:embed="rId3"/>
          <a:stretch>
            <a:fillRect/>
          </a:stretch>
        </p:blipFill>
        <p:spPr>
          <a:xfrm>
            <a:off x="5120640" y="1371600"/>
            <a:ext cx="3291840" cy="43891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PILIERS DE PERFORMANCE</a:t>
            </a:r>
          </a:p>
        </p:txBody>
      </p:sp>
      <p:sp>
        <p:nvSpPr>
          <p:cNvPr id="5" name="TextBox 4"/>
          <p:cNvSpPr txBox="1"/>
          <p:nvPr/>
        </p:nvSpPr>
        <p:spPr>
          <a:xfrm>
            <a:off x="731520" y="1371600"/>
            <a:ext cx="7772400" cy="5029200"/>
          </a:xfrm>
          <a:prstGeom prst="rect">
            <a:avLst/>
          </a:prstGeom>
          <a:noFill/>
        </p:spPr>
        <p:txBody>
          <a:bodyPr wrap="square">
            <a:normAutofit/>
          </a:bodyPr>
          <a:lstStyle/>
          <a:p>
            <a:pPr>
              <a:defRPr sz="1800"/>
            </a:pPr>
            <a:r>
              <a:t>- Hydratation optimale : Vaseline fournit une hydratation profonde pour maintenir la santé des tissus.</a:t>
            </a:r>
            <a:br/>
            <a:r>
              <a:t>- Lubrification parfaite : Notre crème lubrifie les articulations, réduisant les douleurs et les gonflements.</a:t>
            </a:r>
            <a:br/>
            <a:r>
              <a:t>- Protection contre l'extérieur : Vaseline protège le corps contre les éléments extérieurs, comme la sécheresse et les irritants.</a:t>
            </a:r>
            <a:br/>
            <a:r>
              <a:t>- Sécurité pour tous : Notre produit est conçu pour être sûr à utiliser sur toutes les peaux et à tous les âges.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ENGAGEMENT QUALITÉ &amp; SCIENCE</a:t>
            </a:r>
          </a:p>
        </p:txBody>
      </p:sp>
      <p:sp>
        <p:nvSpPr>
          <p:cNvPr id="5" name="TextBox 4"/>
          <p:cNvSpPr txBox="1"/>
          <p:nvPr/>
        </p:nvSpPr>
        <p:spPr>
          <a:xfrm>
            <a:off x="731520" y="1371600"/>
            <a:ext cx="7772400" cy="2011680"/>
          </a:xfrm>
          <a:prstGeom prst="rect">
            <a:avLst/>
          </a:prstGeom>
          <a:noFill/>
        </p:spPr>
        <p:txBody>
          <a:bodyPr wrap="square">
            <a:normAutofit/>
          </a:bodyPr>
          <a:lstStyle/>
          <a:p>
            <a:pPr>
              <a:defRPr sz="2000"/>
            </a:pPr>
            <a:r>
              <a:t>Vaseline est fabriquée avec des ingrédients de haute qualité, tels que le pétrole minéral et la cire d'abeille, qui sont choisis pour leur efficacité et leur sécurité. Notre forme crème est conçue pour être facile à appliquer et à absorber.</a:t>
            </a:r>
          </a:p>
        </p:txBody>
      </p:sp>
      <p:graphicFrame>
        <p:nvGraphicFramePr>
          <p:cNvPr id="6" name="Table 5"/>
          <p:cNvGraphicFramePr>
            <a:graphicFrameLocks noGrp="1"/>
          </p:cNvGraphicFramePr>
          <p:nvPr/>
        </p:nvGraphicFramePr>
        <p:xfrm>
          <a:off x="731520" y="3657600"/>
          <a:ext cx="7680960" cy="1828800"/>
        </p:xfrm>
        <a:graphic>
          <a:graphicData uri="http://schemas.openxmlformats.org/drawingml/2006/table">
            <a:tbl>
              <a:tblPr firstRow="1" bandRow="1">
                <a:tableStyleId>{5C22544A-7EE6-4342-B048-85BDC9FD1C3A}</a:tableStyleId>
              </a:tblPr>
              <a:tblGrid>
                <a:gridCol w="2011680"/>
                <a:gridCol w="5669280"/>
              </a:tblGrid>
              <a:tr h="457200">
                <a:tc>
                  <a:txBody>
                    <a:bodyPr/>
                    <a:lstStyle/>
                    <a:p>
                      <a:pPr>
                        <a:defRPr b="1" sz="1800">
                          <a:solidFill>
                            <a:srgbClr val="003366"/>
                          </a:solidFill>
                        </a:defRPr>
                      </a:pPr>
                      <a:r>
                        <a:t>Catégorie</a:t>
                      </a:r>
                    </a:p>
                  </a:txBody>
                  <a:tcPr>
                    <a:solidFill>
                      <a:srgbClr val="F5F5F5"/>
                    </a:solidFill>
                  </a:tcPr>
                </a:tc>
                <a:tc>
                  <a:txBody>
                    <a:bodyPr/>
                    <a:lstStyle/>
                    <a:p>
                      <a:pPr>
                        <a:defRPr sz="1800">
                          <a:solidFill>
                            <a:srgbClr val="212121"/>
                          </a:solidFill>
                        </a:defRPr>
                      </a:pPr>
                      <a:r>
                        <a:t>Peau</a:t>
                      </a:r>
                    </a:p>
                  </a:txBody>
                  <a:tcPr/>
                </a:tc>
              </a:tr>
              <a:tr h="457200">
                <a:tc>
                  <a:txBody>
                    <a:bodyPr/>
                    <a:lstStyle/>
                    <a:p>
                      <a:pPr>
                        <a:defRPr b="1" sz="1800">
                          <a:solidFill>
                            <a:srgbClr val="003366"/>
                          </a:solidFill>
                        </a:defRPr>
                      </a:pPr>
                      <a:r>
                        <a:t>Classe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Forme</a:t>
                      </a:r>
                    </a:p>
                  </a:txBody>
                  <a:tcPr>
                    <a:solidFill>
                      <a:srgbClr val="F5F5F5"/>
                    </a:solidFill>
                  </a:tcPr>
                </a:tc>
                <a:tc>
                  <a:txBody>
                    <a:bodyPr/>
                    <a:lstStyle/>
                    <a:p>
                      <a:pPr>
                        <a:defRPr sz="1800">
                          <a:solidFill>
                            <a:srgbClr val="212121"/>
                          </a:solidFill>
                        </a:defRPr>
                      </a:pPr>
                      <a:r>
                        <a:t>Crème</a:t>
                      </a:r>
                    </a:p>
                  </a:txBody>
                  <a:tcPr/>
                </a:tc>
              </a:tr>
              <a:tr h="457200">
                <a:tc>
                  <a:txBody>
                    <a:bodyPr/>
                    <a:lstStyle/>
                    <a:p>
                      <a:pPr>
                        <a:defRPr b="1" sz="1800">
                          <a:solidFill>
                            <a:srgbClr val="003366"/>
                          </a:solidFill>
                        </a:defRPr>
                      </a:pPr>
                      <a:r>
                        <a:t>Conditionnement</a:t>
                      </a:r>
                    </a:p>
                  </a:txBody>
                  <a:tcPr>
                    <a:solidFill>
                      <a:srgbClr val="F5F5F5"/>
                    </a:solidFill>
                  </a:tcPr>
                </a:tc>
                <a:tc>
                  <a:txBody>
                    <a:bodyPr/>
                    <a:lstStyle/>
                    <a:p>
                      <a:pPr>
                        <a:defRPr sz="1800">
                          <a:solidFill>
                            <a:srgbClr val="212121"/>
                          </a:solidFill>
                        </a:defRPr>
                      </a:pPr>
                      <a:r>
                        <a:t>Peau douce, lisse et visiblement saine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6858000"/>
          </a:xfrm>
          <a:prstGeom prst="rect">
            <a:avLst/>
          </a:prstGeom>
          <a:solidFill>
            <a:srgbClr val="009999"/>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vital.png"/>
          <p:cNvPicPr>
            <a:picLocks noChangeAspect="1"/>
          </p:cNvPicPr>
          <p:nvPr/>
        </p:nvPicPr>
        <p:blipFill>
          <a:blip r:embed="rId2"/>
          <a:stretch>
            <a:fillRect/>
          </a:stretch>
        </p:blipFill>
        <p:spPr>
          <a:xfrm>
            <a:off x="8046720" y="182880"/>
            <a:ext cx="731520" cy="780288"/>
          </a:xfrm>
          <a:prstGeom prst="rect">
            <a:avLst/>
          </a:prstGeom>
        </p:spPr>
      </p:pic>
      <p:sp>
        <p:nvSpPr>
          <p:cNvPr id="4" name="TextBox 3"/>
          <p:cNvSpPr txBox="1"/>
          <p:nvPr/>
        </p:nvSpPr>
        <p:spPr>
          <a:xfrm>
            <a:off x="365760" y="274320"/>
            <a:ext cx="7132320" cy="914400"/>
          </a:xfrm>
          <a:prstGeom prst="rect">
            <a:avLst/>
          </a:prstGeom>
          <a:noFill/>
        </p:spPr>
        <p:txBody>
          <a:bodyPr wrap="none">
            <a:normAutofit/>
          </a:bodyPr>
          <a:lstStyle/>
          <a:p>
            <a:pPr>
              <a:defRPr b="1" sz="2400">
                <a:solidFill>
                  <a:srgbClr val="003366"/>
                </a:solidFill>
              </a:defRPr>
            </a:pPr>
            <a:r>
              <a:t>SYNTHÈSE &amp; ENGAGEMENT</a:t>
            </a:r>
          </a:p>
        </p:txBody>
      </p:sp>
      <p:sp>
        <p:nvSpPr>
          <p:cNvPr id="5" name="TextBox 4"/>
          <p:cNvSpPr txBox="1"/>
          <p:nvPr/>
        </p:nvSpPr>
        <p:spPr>
          <a:xfrm>
            <a:off x="914400" y="2743200"/>
            <a:ext cx="7315200" cy="2743200"/>
          </a:xfrm>
          <a:prstGeom prst="rect">
            <a:avLst/>
          </a:prstGeom>
          <a:noFill/>
        </p:spPr>
        <p:txBody>
          <a:bodyPr wrap="square">
            <a:normAutofit/>
          </a:bodyPr>
          <a:lstStyle/>
          <a:p>
            <a:pPr algn="ctr">
              <a:defRPr sz="3200" b="1">
                <a:solidFill>
                  <a:srgbClr val="009999"/>
                </a:solidFill>
              </a:defRPr>
            </a:pPr>
            <a:r>
              <a:t>Rejoignez notre communauté de patients satisfaits et découvrez les bienfaits de Vaseline pour votre santé et votre bien-être. Achetez maintenant et commencez à vivre une vie plus hydratée et en bonne santé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