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logo_vital.png"/>
          <p:cNvPicPr>
            <a:picLocks noChangeAspect="1"/>
          </p:cNvPicPr>
          <p:nvPr/>
        </p:nvPicPr>
        <p:blipFill>
          <a:blip r:embed="rId2"/>
          <a:stretch>
            <a:fillRect/>
          </a:stretch>
        </p:blipFill>
        <p:spPr>
          <a:xfrm>
            <a:off x="4023360" y="731520"/>
            <a:ext cx="1097280" cy="1170432"/>
          </a:xfrm>
          <a:prstGeom prst="rect">
            <a:avLst/>
          </a:prstGeom>
        </p:spPr>
      </p:pic>
      <p:sp>
        <p:nvSpPr>
          <p:cNvPr id="3" name="Rectangle 2"/>
          <p:cNvSpPr/>
          <p:nvPr/>
        </p:nvSpPr>
        <p:spPr>
          <a:xfrm>
            <a:off x="0" y="2743200"/>
            <a:ext cx="9144000" cy="2743200"/>
          </a:xfrm>
          <a:prstGeom prst="rect">
            <a:avLst/>
          </a:prstGeom>
          <a:solidFill>
            <a:srgbClr val="003366"/>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0" y="3017520"/>
            <a:ext cx="9144000" cy="914400"/>
          </a:xfrm>
          <a:prstGeom prst="rect">
            <a:avLst/>
          </a:prstGeom>
          <a:noFill/>
        </p:spPr>
        <p:txBody>
          <a:bodyPr wrap="square">
            <a:normAutofit/>
          </a:bodyPr>
          <a:lstStyle/>
          <a:p>
            <a:pPr algn="ctr">
              <a:defRPr sz="5400" b="1">
                <a:solidFill>
                  <a:srgbClr val="FFFFFF"/>
                </a:solidFill>
              </a:defRPr>
            </a:pPr>
            <a:r>
              <a:t>Vaseline</a:t>
            </a:r>
          </a:p>
        </p:txBody>
      </p:sp>
      <p:sp>
        <p:nvSpPr>
          <p:cNvPr id="5" name="TextBox 4"/>
          <p:cNvSpPr txBox="1"/>
          <p:nvPr/>
        </p:nvSpPr>
        <p:spPr>
          <a:xfrm>
            <a:off x="0" y="4114800"/>
            <a:ext cx="9144000" cy="914400"/>
          </a:xfrm>
          <a:prstGeom prst="rect">
            <a:avLst/>
          </a:prstGeom>
          <a:noFill/>
        </p:spPr>
        <p:txBody>
          <a:bodyPr wrap="square">
            <a:normAutofit/>
          </a:bodyPr>
          <a:lstStyle/>
          <a:p>
            <a:pPr algn="ctr">
              <a:defRPr sz="2200" i="1">
                <a:solidFill>
                  <a:srgbClr val="009999"/>
                </a:solidFill>
              </a:defRPr>
            </a:pPr>
            <a:r>
              <a:t>Développez la confiance en votre peau avec Vaseline, la crème parfaite pour un hygiène et une beauté optimale.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9728" cy="6858000"/>
          </a:xfrm>
          <a:prstGeom prst="rect">
            <a:avLst/>
          </a:prstGeom>
          <a:solidFill>
            <a:srgbClr val="009999"/>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vital.png"/>
          <p:cNvPicPr>
            <a:picLocks noChangeAspect="1"/>
          </p:cNvPicPr>
          <p:nvPr/>
        </p:nvPicPr>
        <p:blipFill>
          <a:blip r:embed="rId2"/>
          <a:stretch>
            <a:fillRect/>
          </a:stretch>
        </p:blipFill>
        <p:spPr>
          <a:xfrm>
            <a:off x="8046720" y="182880"/>
            <a:ext cx="731520" cy="780288"/>
          </a:xfrm>
          <a:prstGeom prst="rect">
            <a:avLst/>
          </a:prstGeom>
        </p:spPr>
      </p:pic>
      <p:sp>
        <p:nvSpPr>
          <p:cNvPr id="4" name="TextBox 3"/>
          <p:cNvSpPr txBox="1"/>
          <p:nvPr/>
        </p:nvSpPr>
        <p:spPr>
          <a:xfrm>
            <a:off x="365760" y="274320"/>
            <a:ext cx="7132320" cy="914400"/>
          </a:xfrm>
          <a:prstGeom prst="rect">
            <a:avLst/>
          </a:prstGeom>
          <a:noFill/>
        </p:spPr>
        <p:txBody>
          <a:bodyPr wrap="none">
            <a:normAutofit/>
          </a:bodyPr>
          <a:lstStyle/>
          <a:p>
            <a:pPr>
              <a:defRPr b="1" sz="2400">
                <a:solidFill>
                  <a:srgbClr val="003366"/>
                </a:solidFill>
              </a:defRPr>
            </a:pPr>
            <a:r>
              <a:t>ANALYSE ET ENJEUX</a:t>
            </a:r>
          </a:p>
        </p:txBody>
      </p:sp>
      <p:sp>
        <p:nvSpPr>
          <p:cNvPr id="5" name="TextBox 4"/>
          <p:cNvSpPr txBox="1"/>
          <p:nvPr/>
        </p:nvSpPr>
        <p:spPr>
          <a:xfrm>
            <a:off x="731520" y="1645920"/>
            <a:ext cx="7772400" cy="4572000"/>
          </a:xfrm>
          <a:prstGeom prst="rect">
            <a:avLst/>
          </a:prstGeom>
          <a:noFill/>
        </p:spPr>
        <p:txBody>
          <a:bodyPr wrap="square">
            <a:normAutofit/>
          </a:bodyPr>
          <a:lstStyle/>
          <a:p>
            <a:pPr>
              <a:defRPr sz="2200">
                <a:solidFill>
                  <a:srgbClr val="212121"/>
                </a:solidFill>
              </a:defRPr>
            </a:pPr>
            <a:r>
              <a:t>Les patients souffrent souvent d'efflorescences cutanées, de sécheresse et d'inconfort liés à des conditions climatiques extrêmes ou à une peau sensible. Ils cherchent un produit qui puisse les aider à retrouver leur hygiène et leur beauté naturelles.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9728" cy="6858000"/>
          </a:xfrm>
          <a:prstGeom prst="rect">
            <a:avLst/>
          </a:prstGeom>
          <a:solidFill>
            <a:srgbClr val="009999"/>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vital.png"/>
          <p:cNvPicPr>
            <a:picLocks noChangeAspect="1"/>
          </p:cNvPicPr>
          <p:nvPr/>
        </p:nvPicPr>
        <p:blipFill>
          <a:blip r:embed="rId2"/>
          <a:stretch>
            <a:fillRect/>
          </a:stretch>
        </p:blipFill>
        <p:spPr>
          <a:xfrm>
            <a:off x="8046720" y="182880"/>
            <a:ext cx="731520" cy="780288"/>
          </a:xfrm>
          <a:prstGeom prst="rect">
            <a:avLst/>
          </a:prstGeom>
        </p:spPr>
      </p:pic>
      <p:sp>
        <p:nvSpPr>
          <p:cNvPr id="4" name="TextBox 3"/>
          <p:cNvSpPr txBox="1"/>
          <p:nvPr/>
        </p:nvSpPr>
        <p:spPr>
          <a:xfrm>
            <a:off x="365760" y="274320"/>
            <a:ext cx="7132320" cy="914400"/>
          </a:xfrm>
          <a:prstGeom prst="rect">
            <a:avLst/>
          </a:prstGeom>
          <a:noFill/>
        </p:spPr>
        <p:txBody>
          <a:bodyPr wrap="none">
            <a:normAutofit/>
          </a:bodyPr>
          <a:lstStyle/>
          <a:p>
            <a:pPr>
              <a:defRPr b="1" sz="2400">
                <a:solidFill>
                  <a:srgbClr val="003366"/>
                </a:solidFill>
              </a:defRPr>
            </a:pPr>
            <a:r>
              <a:t>LA RÉPONSE VITAL LABS</a:t>
            </a:r>
          </a:p>
        </p:txBody>
      </p:sp>
      <p:sp>
        <p:nvSpPr>
          <p:cNvPr id="5" name="TextBox 4"/>
          <p:cNvSpPr txBox="1"/>
          <p:nvPr/>
        </p:nvSpPr>
        <p:spPr>
          <a:xfrm>
            <a:off x="457200" y="1463040"/>
            <a:ext cx="4389120" cy="4572000"/>
          </a:xfrm>
          <a:prstGeom prst="rect">
            <a:avLst/>
          </a:prstGeom>
          <a:noFill/>
        </p:spPr>
        <p:txBody>
          <a:bodyPr wrap="square">
            <a:normAutofit/>
          </a:bodyPr>
          <a:lstStyle/>
          <a:p>
            <a:pPr>
              <a:defRPr sz="1800"/>
            </a:pPr>
            <a:r>
              <a:t>Vaseline utilise un mélange de beurre de karité et de cire d'abeille pour hydrater la peau, tandis que son lubrifiant unique permet une glissade silencieuse sur les doigts. Cette combinaison de propriétés naturelles et scientifiques garantit un résultat durable et sans irritation.</a:t>
            </a:r>
          </a:p>
        </p:txBody>
      </p:sp>
      <p:pic>
        <p:nvPicPr>
          <p:cNvPr id="6" name="Picture 5" descr="image.png"/>
          <p:cNvPicPr>
            <a:picLocks noChangeAspect="1"/>
          </p:cNvPicPr>
          <p:nvPr/>
        </p:nvPicPr>
        <p:blipFill>
          <a:blip r:embed="rId3"/>
          <a:stretch>
            <a:fillRect/>
          </a:stretch>
        </p:blipFill>
        <p:spPr>
          <a:xfrm>
            <a:off x="5120640" y="1371600"/>
            <a:ext cx="3291840" cy="438912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9728" cy="6858000"/>
          </a:xfrm>
          <a:prstGeom prst="rect">
            <a:avLst/>
          </a:prstGeom>
          <a:solidFill>
            <a:srgbClr val="009999"/>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vital.png"/>
          <p:cNvPicPr>
            <a:picLocks noChangeAspect="1"/>
          </p:cNvPicPr>
          <p:nvPr/>
        </p:nvPicPr>
        <p:blipFill>
          <a:blip r:embed="rId2"/>
          <a:stretch>
            <a:fillRect/>
          </a:stretch>
        </p:blipFill>
        <p:spPr>
          <a:xfrm>
            <a:off x="8046720" y="182880"/>
            <a:ext cx="731520" cy="780288"/>
          </a:xfrm>
          <a:prstGeom prst="rect">
            <a:avLst/>
          </a:prstGeom>
        </p:spPr>
      </p:pic>
      <p:sp>
        <p:nvSpPr>
          <p:cNvPr id="4" name="TextBox 3"/>
          <p:cNvSpPr txBox="1"/>
          <p:nvPr/>
        </p:nvSpPr>
        <p:spPr>
          <a:xfrm>
            <a:off x="365760" y="274320"/>
            <a:ext cx="7132320" cy="914400"/>
          </a:xfrm>
          <a:prstGeom prst="rect">
            <a:avLst/>
          </a:prstGeom>
          <a:noFill/>
        </p:spPr>
        <p:txBody>
          <a:bodyPr wrap="none">
            <a:normAutofit/>
          </a:bodyPr>
          <a:lstStyle/>
          <a:p>
            <a:pPr>
              <a:defRPr b="1" sz="2400">
                <a:solidFill>
                  <a:srgbClr val="003366"/>
                </a:solidFill>
              </a:defRPr>
            </a:pPr>
            <a:r>
              <a:t>PILIERS DE PERFORMANCE</a:t>
            </a:r>
          </a:p>
        </p:txBody>
      </p:sp>
      <p:sp>
        <p:nvSpPr>
          <p:cNvPr id="5" name="TextBox 4"/>
          <p:cNvSpPr txBox="1"/>
          <p:nvPr/>
        </p:nvSpPr>
        <p:spPr>
          <a:xfrm>
            <a:off x="731520" y="1371600"/>
            <a:ext cx="7772400" cy="5029200"/>
          </a:xfrm>
          <a:prstGeom prst="rect">
            <a:avLst/>
          </a:prstGeom>
          <a:noFill/>
        </p:spPr>
        <p:txBody>
          <a:bodyPr wrap="square">
            <a:normAutofit/>
          </a:bodyPr>
          <a:lstStyle/>
          <a:p>
            <a:pPr>
              <a:defRPr sz="1800"/>
            </a:pPr>
            <a:r>
              <a:t>1. Hydratation optimale : Vaseline protège la peau contre la sécheresse et l'efflorescence.</a:t>
            </a:r>
            <a:br/>
            <a:r>
              <a:t>2. Lubrification efficace : Le produit permet une glissade silencieuse sur les doigts, sans irritation ni brûlure.</a:t>
            </a:r>
            <a:br/>
            <a:r>
              <a:t>3. Ingrédients naturels : Vaseline utilise des ingrédients naturels pour hydrater et nourrir la peau.</a:t>
            </a:r>
            <a:br/>
            <a:r>
              <a:t>4. Durabilité garantie : Le produit maintient son efficacité tout au long de la journée.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9728" cy="6858000"/>
          </a:xfrm>
          <a:prstGeom prst="rect">
            <a:avLst/>
          </a:prstGeom>
          <a:solidFill>
            <a:srgbClr val="009999"/>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vital.png"/>
          <p:cNvPicPr>
            <a:picLocks noChangeAspect="1"/>
          </p:cNvPicPr>
          <p:nvPr/>
        </p:nvPicPr>
        <p:blipFill>
          <a:blip r:embed="rId2"/>
          <a:stretch>
            <a:fillRect/>
          </a:stretch>
        </p:blipFill>
        <p:spPr>
          <a:xfrm>
            <a:off x="8046720" y="182880"/>
            <a:ext cx="731520" cy="780288"/>
          </a:xfrm>
          <a:prstGeom prst="rect">
            <a:avLst/>
          </a:prstGeom>
        </p:spPr>
      </p:pic>
      <p:sp>
        <p:nvSpPr>
          <p:cNvPr id="4" name="TextBox 3"/>
          <p:cNvSpPr txBox="1"/>
          <p:nvPr/>
        </p:nvSpPr>
        <p:spPr>
          <a:xfrm>
            <a:off x="365760" y="274320"/>
            <a:ext cx="7132320" cy="914400"/>
          </a:xfrm>
          <a:prstGeom prst="rect">
            <a:avLst/>
          </a:prstGeom>
          <a:noFill/>
        </p:spPr>
        <p:txBody>
          <a:bodyPr wrap="none">
            <a:normAutofit/>
          </a:bodyPr>
          <a:lstStyle/>
          <a:p>
            <a:pPr>
              <a:defRPr b="1" sz="2400">
                <a:solidFill>
                  <a:srgbClr val="003366"/>
                </a:solidFill>
              </a:defRPr>
            </a:pPr>
            <a:r>
              <a:t>ENGAGEMENT QUALITÉ &amp; SCIENCE</a:t>
            </a:r>
          </a:p>
        </p:txBody>
      </p:sp>
      <p:sp>
        <p:nvSpPr>
          <p:cNvPr id="5" name="TextBox 4"/>
          <p:cNvSpPr txBox="1"/>
          <p:nvPr/>
        </p:nvSpPr>
        <p:spPr>
          <a:xfrm>
            <a:off x="731520" y="1371600"/>
            <a:ext cx="7772400" cy="2011680"/>
          </a:xfrm>
          <a:prstGeom prst="rect">
            <a:avLst/>
          </a:prstGeom>
          <a:noFill/>
        </p:spPr>
        <p:txBody>
          <a:bodyPr wrap="square">
            <a:normAutofit/>
          </a:bodyPr>
          <a:lstStyle/>
          <a:p>
            <a:pPr>
              <a:defRPr sz="2000"/>
            </a:pPr>
            <a:r>
              <a:t>Vaseline est fabriquée avec une excellence de fabrication qui garantit sa qualité et sa durabilité. Sa forme crème permet une application facile et confortable sur la peau, sans creux ni bulles.</a:t>
            </a:r>
          </a:p>
        </p:txBody>
      </p:sp>
      <p:graphicFrame>
        <p:nvGraphicFramePr>
          <p:cNvPr id="6" name="Table 5"/>
          <p:cNvGraphicFramePr>
            <a:graphicFrameLocks noGrp="1"/>
          </p:cNvGraphicFramePr>
          <p:nvPr/>
        </p:nvGraphicFramePr>
        <p:xfrm>
          <a:off x="731520" y="3657600"/>
          <a:ext cx="7680960" cy="1828800"/>
        </p:xfrm>
        <a:graphic>
          <a:graphicData uri="http://schemas.openxmlformats.org/drawingml/2006/table">
            <a:tbl>
              <a:tblPr firstRow="1" bandRow="1">
                <a:tableStyleId>{5C22544A-7EE6-4342-B048-85BDC9FD1C3A}</a:tableStyleId>
              </a:tblPr>
              <a:tblGrid>
                <a:gridCol w="2011680"/>
                <a:gridCol w="5669280"/>
              </a:tblGrid>
              <a:tr h="457200">
                <a:tc>
                  <a:txBody>
                    <a:bodyPr/>
                    <a:lstStyle/>
                    <a:p>
                      <a:pPr>
                        <a:defRPr b="1" sz="1800">
                          <a:solidFill>
                            <a:srgbClr val="003366"/>
                          </a:solidFill>
                        </a:defRPr>
                      </a:pPr>
                      <a:r>
                        <a:t>Catégorie</a:t>
                      </a:r>
                    </a:p>
                  </a:txBody>
                  <a:tcPr>
                    <a:solidFill>
                      <a:srgbClr val="F5F5F5"/>
                    </a:solidFill>
                  </a:tcPr>
                </a:tc>
                <a:tc>
                  <a:txBody>
                    <a:bodyPr/>
                    <a:lstStyle/>
                    <a:p>
                      <a:pPr>
                        <a:defRPr sz="1800">
                          <a:solidFill>
                            <a:srgbClr val="212121"/>
                          </a:solidFill>
                        </a:defRPr>
                      </a:pPr>
                      <a:r>
                        <a:t>Peau</a:t>
                      </a:r>
                    </a:p>
                  </a:txBody>
                  <a:tcPr/>
                </a:tc>
              </a:tr>
              <a:tr h="457200">
                <a:tc>
                  <a:txBody>
                    <a:bodyPr/>
                    <a:lstStyle/>
                    <a:p>
                      <a:pPr>
                        <a:defRPr b="1" sz="1800">
                          <a:solidFill>
                            <a:srgbClr val="003366"/>
                          </a:solidFill>
                        </a:defRPr>
                      </a:pPr>
                      <a:r>
                        <a:t>Classe</a:t>
                      </a:r>
                    </a:p>
                  </a:txBody>
                  <a:tcPr>
                    <a:solidFill>
                      <a:srgbClr val="F5F5F5"/>
                    </a:solidFill>
                  </a:tcPr>
                </a:tc>
                <a:tc>
                  <a:txBody>
                    <a:bodyPr/>
                    <a:lstStyle/>
                    <a:p>
                      <a:pPr>
                        <a:defRPr sz="1800">
                          <a:solidFill>
                            <a:srgbClr val="212121"/>
                          </a:solidFill>
                        </a:defRPr>
                      </a:pPr>
                      <a:r>
                        <a:t>Crème</a:t>
                      </a:r>
                    </a:p>
                  </a:txBody>
                  <a:tcPr/>
                </a:tc>
              </a:tr>
              <a:tr h="457200">
                <a:tc>
                  <a:txBody>
                    <a:bodyPr/>
                    <a:lstStyle/>
                    <a:p>
                      <a:pPr>
                        <a:defRPr b="1" sz="1800">
                          <a:solidFill>
                            <a:srgbClr val="003366"/>
                          </a:solidFill>
                        </a:defRPr>
                      </a:pPr>
                      <a:r>
                        <a:t>Forme</a:t>
                      </a:r>
                    </a:p>
                  </a:txBody>
                  <a:tcPr>
                    <a:solidFill>
                      <a:srgbClr val="F5F5F5"/>
                    </a:solidFill>
                  </a:tcPr>
                </a:tc>
                <a:tc>
                  <a:txBody>
                    <a:bodyPr/>
                    <a:lstStyle/>
                    <a:p>
                      <a:pPr>
                        <a:defRPr sz="1800">
                          <a:solidFill>
                            <a:srgbClr val="212121"/>
                          </a:solidFill>
                        </a:defRPr>
                      </a:pPr>
                      <a:r>
                        <a:t>Crème</a:t>
                      </a:r>
                    </a:p>
                  </a:txBody>
                  <a:tcPr/>
                </a:tc>
              </a:tr>
              <a:tr h="457200">
                <a:tc>
                  <a:txBody>
                    <a:bodyPr/>
                    <a:lstStyle/>
                    <a:p>
                      <a:pPr>
                        <a:defRPr b="1" sz="1800">
                          <a:solidFill>
                            <a:srgbClr val="003366"/>
                          </a:solidFill>
                        </a:defRPr>
                      </a:pPr>
                      <a:r>
                        <a:t>Conditionnement</a:t>
                      </a:r>
                    </a:p>
                  </a:txBody>
                  <a:tcPr>
                    <a:solidFill>
                      <a:srgbClr val="F5F5F5"/>
                    </a:solidFill>
                  </a:tcPr>
                </a:tc>
                <a:tc>
                  <a:txBody>
                    <a:bodyPr/>
                    <a:lstStyle/>
                    <a:p>
                      <a:pPr>
                        <a:defRPr sz="1800">
                          <a:solidFill>
                            <a:srgbClr val="212121"/>
                          </a:solidFill>
                        </a:defRPr>
                      </a:pPr>
                      <a:r>
                        <a:t>Peau douce, lisse et visiblement saine</a:t>
                      </a:r>
                    </a:p>
                  </a:txBody>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9728" cy="6858000"/>
          </a:xfrm>
          <a:prstGeom prst="rect">
            <a:avLst/>
          </a:prstGeom>
          <a:solidFill>
            <a:srgbClr val="009999"/>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vital.png"/>
          <p:cNvPicPr>
            <a:picLocks noChangeAspect="1"/>
          </p:cNvPicPr>
          <p:nvPr/>
        </p:nvPicPr>
        <p:blipFill>
          <a:blip r:embed="rId2"/>
          <a:stretch>
            <a:fillRect/>
          </a:stretch>
        </p:blipFill>
        <p:spPr>
          <a:xfrm>
            <a:off x="8046720" y="182880"/>
            <a:ext cx="731520" cy="780288"/>
          </a:xfrm>
          <a:prstGeom prst="rect">
            <a:avLst/>
          </a:prstGeom>
        </p:spPr>
      </p:pic>
      <p:sp>
        <p:nvSpPr>
          <p:cNvPr id="4" name="TextBox 3"/>
          <p:cNvSpPr txBox="1"/>
          <p:nvPr/>
        </p:nvSpPr>
        <p:spPr>
          <a:xfrm>
            <a:off x="365760" y="274320"/>
            <a:ext cx="7132320" cy="914400"/>
          </a:xfrm>
          <a:prstGeom prst="rect">
            <a:avLst/>
          </a:prstGeom>
          <a:noFill/>
        </p:spPr>
        <p:txBody>
          <a:bodyPr wrap="none">
            <a:normAutofit/>
          </a:bodyPr>
          <a:lstStyle/>
          <a:p>
            <a:pPr>
              <a:defRPr b="1" sz="2400">
                <a:solidFill>
                  <a:srgbClr val="003366"/>
                </a:solidFill>
              </a:defRPr>
            </a:pPr>
            <a:r>
              <a:t>SYNTHÈSE &amp; ENGAGEMENT</a:t>
            </a:r>
          </a:p>
        </p:txBody>
      </p:sp>
      <p:sp>
        <p:nvSpPr>
          <p:cNvPr id="5" name="TextBox 4"/>
          <p:cNvSpPr txBox="1"/>
          <p:nvPr/>
        </p:nvSpPr>
        <p:spPr>
          <a:xfrm>
            <a:off x="914400" y="2743200"/>
            <a:ext cx="7315200" cy="2743200"/>
          </a:xfrm>
          <a:prstGeom prst="rect">
            <a:avLst/>
          </a:prstGeom>
          <a:noFill/>
        </p:spPr>
        <p:txBody>
          <a:bodyPr wrap="square">
            <a:normAutofit/>
          </a:bodyPr>
          <a:lstStyle/>
          <a:p>
            <a:pPr algn="ctr">
              <a:defRPr sz="3200" b="1">
                <a:solidFill>
                  <a:srgbClr val="009999"/>
                </a:solidFill>
              </a:defRPr>
            </a:pPr>
            <a:r>
              <a:t>Développez votre confiance en votre peau avec Vaseline. Découvrez l'efficacité de notre produit pour une hygiène et une beauté optimale.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