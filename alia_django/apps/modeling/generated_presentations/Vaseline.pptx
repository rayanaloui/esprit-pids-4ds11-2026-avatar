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_vital.png"/>
          <p:cNvPicPr>
            <a:picLocks noChangeAspect="1"/>
          </p:cNvPicPr>
          <p:nvPr/>
        </p:nvPicPr>
        <p:blipFill>
          <a:blip r:embed="rId2"/>
          <a:stretch>
            <a:fillRect/>
          </a:stretch>
        </p:blipFill>
        <p:spPr>
          <a:xfrm>
            <a:off x="4023360" y="731520"/>
            <a:ext cx="1097280" cy="1170432"/>
          </a:xfrm>
          <a:prstGeom prst="rect">
            <a:avLst/>
          </a:prstGeom>
        </p:spPr>
      </p:pic>
      <p:sp>
        <p:nvSpPr>
          <p:cNvPr id="3" name="Rectangle 2"/>
          <p:cNvSpPr/>
          <p:nvPr/>
        </p:nvSpPr>
        <p:spPr>
          <a:xfrm>
            <a:off x="0" y="2743200"/>
            <a:ext cx="9144000" cy="2743200"/>
          </a:xfrm>
          <a:prstGeom prst="rect">
            <a:avLst/>
          </a:prstGeom>
          <a:solidFill>
            <a:srgbClr val="003366"/>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3017520"/>
            <a:ext cx="9144000" cy="914400"/>
          </a:xfrm>
          <a:prstGeom prst="rect">
            <a:avLst/>
          </a:prstGeom>
          <a:noFill/>
        </p:spPr>
        <p:txBody>
          <a:bodyPr wrap="square">
            <a:normAutofit/>
          </a:bodyPr>
          <a:lstStyle/>
          <a:p>
            <a:pPr algn="ctr">
              <a:defRPr sz="5400" b="1">
                <a:solidFill>
                  <a:srgbClr val="FFFFFF"/>
                </a:solidFill>
              </a:defRPr>
            </a:pPr>
            <a:r>
              <a:t>Vaseline</a:t>
            </a:r>
          </a:p>
        </p:txBody>
      </p:sp>
      <p:sp>
        <p:nvSpPr>
          <p:cNvPr id="5" name="TextBox 4"/>
          <p:cNvSpPr txBox="1"/>
          <p:nvPr/>
        </p:nvSpPr>
        <p:spPr>
          <a:xfrm>
            <a:off x="0" y="4114800"/>
            <a:ext cx="9144000" cy="914400"/>
          </a:xfrm>
          <a:prstGeom prst="rect">
            <a:avLst/>
          </a:prstGeom>
          <a:noFill/>
        </p:spPr>
        <p:txBody>
          <a:bodyPr wrap="square">
            <a:normAutofit/>
          </a:bodyPr>
          <a:lstStyle/>
          <a:p>
            <a:pPr algn="ctr">
              <a:defRPr sz="2200" i="1">
                <a:solidFill>
                  <a:srgbClr val="009999"/>
                </a:solidFill>
              </a:defRPr>
            </a:pPr>
            <a:r>
              <a:t>Vitalisez votre vie quotidienne avec Vaseline, la crème ultime pour un corps hydraté et soulagé.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ANALYSE ET ENJEUX</a:t>
            </a:r>
          </a:p>
        </p:txBody>
      </p:sp>
      <p:sp>
        <p:nvSpPr>
          <p:cNvPr id="5" name="TextBox 4"/>
          <p:cNvSpPr txBox="1"/>
          <p:nvPr/>
        </p:nvSpPr>
        <p:spPr>
          <a:xfrm>
            <a:off x="731520" y="1645920"/>
            <a:ext cx="7772400" cy="4572000"/>
          </a:xfrm>
          <a:prstGeom prst="rect">
            <a:avLst/>
          </a:prstGeom>
          <a:noFill/>
        </p:spPr>
        <p:txBody>
          <a:bodyPr wrap="square">
            <a:normAutofit/>
          </a:bodyPr>
          <a:lstStyle/>
          <a:p>
            <a:pPr>
              <a:defRPr sz="2200">
                <a:solidFill>
                  <a:srgbClr val="212121"/>
                </a:solidFill>
              </a:defRPr>
            </a:pPr>
            <a:r>
              <a:t>Le besoin patient est souvent marqué par des peaux séches, irritées et sensibles. Les produits traditionnels ne suffisent pas à répondre aux besoins de l'été ensoleillé ou aux conditions climatiques extrêmes. Les patients cherchent un produit qui puisse les protéger et les hydrater sans laisser de résidus gras ou irritants.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LA RÉPONSE VITAL LABS</a:t>
            </a:r>
          </a:p>
        </p:txBody>
      </p:sp>
      <p:sp>
        <p:nvSpPr>
          <p:cNvPr id="5" name="TextBox 4"/>
          <p:cNvSpPr txBox="1"/>
          <p:nvPr/>
        </p:nvSpPr>
        <p:spPr>
          <a:xfrm>
            <a:off x="457200" y="1463040"/>
            <a:ext cx="4389120" cy="4572000"/>
          </a:xfrm>
          <a:prstGeom prst="rect">
            <a:avLst/>
          </a:prstGeom>
          <a:noFill/>
        </p:spPr>
        <p:txBody>
          <a:bodyPr wrap="square">
            <a:normAutofit/>
          </a:bodyPr>
          <a:lstStyle/>
          <a:p>
            <a:pPr>
              <a:defRPr sz="1800"/>
            </a:pPr>
            <a:r>
              <a:t>Vaseline utilise une formule unique à base d'huile minérale, qui crée une barrière protectrice pour préserver l'équilibre de la peau. Cette technologie exclusive garantit un apport optimal d'humidité et de lubrification, sans compromettre la qualité de la peau.</a:t>
            </a:r>
          </a:p>
        </p:txBody>
      </p:sp>
      <p:pic>
        <p:nvPicPr>
          <p:cNvPr id="6" name="Picture 5" descr="image.png"/>
          <p:cNvPicPr>
            <a:picLocks noChangeAspect="1"/>
          </p:cNvPicPr>
          <p:nvPr/>
        </p:nvPicPr>
        <p:blipFill>
          <a:blip r:embed="rId3"/>
          <a:stretch>
            <a:fillRect/>
          </a:stretch>
        </p:blipFill>
        <p:spPr>
          <a:xfrm>
            <a:off x="5120640" y="1371600"/>
            <a:ext cx="3291840" cy="43891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PILIERS DE PERFORMANCE</a:t>
            </a:r>
          </a:p>
        </p:txBody>
      </p:sp>
      <p:sp>
        <p:nvSpPr>
          <p:cNvPr id="5" name="TextBox 4"/>
          <p:cNvSpPr txBox="1"/>
          <p:nvPr/>
        </p:nvSpPr>
        <p:spPr>
          <a:xfrm>
            <a:off x="731520" y="1371600"/>
            <a:ext cx="7772400" cy="5029200"/>
          </a:xfrm>
          <a:prstGeom prst="rect">
            <a:avLst/>
          </a:prstGeom>
          <a:noFill/>
        </p:spPr>
        <p:txBody>
          <a:bodyPr wrap="square">
            <a:normAutofit/>
          </a:bodyPr>
          <a:lstStyle/>
          <a:p>
            <a:pPr>
              <a:defRPr sz="1800"/>
            </a:pPr>
            <a:r>
              <a:t>-   Hydratation optimale : Vaseline apporte à la peau l'air et l'humidité nécessaires pour rester équilibrée.</a:t>
            </a:r>
            <a:br/>
            <a:r>
              <a:t>-   Protection solaire : La crème protège les peaux contre les rayons UV, prévenant les brûlures et les irritations.</a:t>
            </a:r>
            <a:br/>
            <a:r>
              <a:t>-   Soulagement instantané : Vaseline apporte un soulagement immédiat aux peaux séches et irritées.</a:t>
            </a:r>
            <a:br/>
            <a:r>
              <a:t>-   Formule sans parfum ni colorant : La crème est parfairement adaptée pour les peaux sensibles.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ENGAGEMENT QUALITÉ &amp; SCIENCE</a:t>
            </a:r>
          </a:p>
        </p:txBody>
      </p:sp>
      <p:sp>
        <p:nvSpPr>
          <p:cNvPr id="5" name="TextBox 4"/>
          <p:cNvSpPr txBox="1"/>
          <p:nvPr/>
        </p:nvSpPr>
        <p:spPr>
          <a:xfrm>
            <a:off x="731520" y="1371600"/>
            <a:ext cx="7772400" cy="2011680"/>
          </a:xfrm>
          <a:prstGeom prst="rect">
            <a:avLst/>
          </a:prstGeom>
          <a:noFill/>
        </p:spPr>
        <p:txBody>
          <a:bodyPr wrap="square">
            <a:normAutofit/>
          </a:bodyPr>
          <a:lstStyle/>
          <a:p>
            <a:pPr>
              <a:defRPr sz="2000"/>
            </a:pPr>
            <a:r>
              <a:t>La fabrication de Vaseline repose sur des processus de haute qualité, garantissant une texture douce et lissante. La forme Crème permet un apport uniforme d'huile à la peau, sans laisser de résidus gras ou irritants.</a:t>
            </a:r>
          </a:p>
        </p:txBody>
      </p:sp>
      <p:graphicFrame>
        <p:nvGraphicFramePr>
          <p:cNvPr id="6" name="Table 5"/>
          <p:cNvGraphicFramePr>
            <a:graphicFrameLocks noGrp="1"/>
          </p:cNvGraphicFramePr>
          <p:nvPr/>
        </p:nvGraphicFramePr>
        <p:xfrm>
          <a:off x="731520" y="3657600"/>
          <a:ext cx="7680960" cy="1828800"/>
        </p:xfrm>
        <a:graphic>
          <a:graphicData uri="http://schemas.openxmlformats.org/drawingml/2006/table">
            <a:tbl>
              <a:tblPr firstRow="1" bandRow="1">
                <a:tableStyleId>{5C22544A-7EE6-4342-B048-85BDC9FD1C3A}</a:tableStyleId>
              </a:tblPr>
              <a:tblGrid>
                <a:gridCol w="2011680"/>
                <a:gridCol w="5669280"/>
              </a:tblGrid>
              <a:tr h="457200">
                <a:tc>
                  <a:txBody>
                    <a:bodyPr/>
                    <a:lstStyle/>
                    <a:p>
                      <a:pPr>
                        <a:defRPr b="1" sz="1800">
                          <a:solidFill>
                            <a:srgbClr val="003366"/>
                          </a:solidFill>
                        </a:defRPr>
                      </a:pPr>
                      <a:r>
                        <a:t>Catégorie</a:t>
                      </a:r>
                    </a:p>
                  </a:txBody>
                  <a:tcPr>
                    <a:solidFill>
                      <a:srgbClr val="F5F5F5"/>
                    </a:solidFill>
                  </a:tcPr>
                </a:tc>
                <a:tc>
                  <a:txBody>
                    <a:bodyPr/>
                    <a:lstStyle/>
                    <a:p>
                      <a:pPr>
                        <a:defRPr sz="1800">
                          <a:solidFill>
                            <a:srgbClr val="212121"/>
                          </a:solidFill>
                        </a:defRPr>
                      </a:pPr>
                      <a:r>
                        <a:t>Peau</a:t>
                      </a:r>
                    </a:p>
                  </a:txBody>
                  <a:tcPr/>
                </a:tc>
              </a:tr>
              <a:tr h="457200">
                <a:tc>
                  <a:txBody>
                    <a:bodyPr/>
                    <a:lstStyle/>
                    <a:p>
                      <a:pPr>
                        <a:defRPr b="1" sz="1800">
                          <a:solidFill>
                            <a:srgbClr val="003366"/>
                          </a:solidFill>
                        </a:defRPr>
                      </a:pPr>
                      <a:r>
                        <a:t>Classe</a:t>
                      </a:r>
                    </a:p>
                  </a:txBody>
                  <a:tcPr>
                    <a:solidFill>
                      <a:srgbClr val="F5F5F5"/>
                    </a:solidFill>
                  </a:tcPr>
                </a:tc>
                <a:tc>
                  <a:txBody>
                    <a:bodyPr/>
                    <a:lstStyle/>
                    <a:p>
                      <a:pPr>
                        <a:defRPr sz="1800">
                          <a:solidFill>
                            <a:srgbClr val="212121"/>
                          </a:solidFill>
                        </a:defRPr>
                      </a:pPr>
                      <a:r>
                        <a:t>Crème</a:t>
                      </a:r>
                    </a:p>
                  </a:txBody>
                  <a:tcPr/>
                </a:tc>
              </a:tr>
              <a:tr h="457200">
                <a:tc>
                  <a:txBody>
                    <a:bodyPr/>
                    <a:lstStyle/>
                    <a:p>
                      <a:pPr>
                        <a:defRPr b="1" sz="1800">
                          <a:solidFill>
                            <a:srgbClr val="003366"/>
                          </a:solidFill>
                        </a:defRPr>
                      </a:pPr>
                      <a:r>
                        <a:t>Forme</a:t>
                      </a:r>
                    </a:p>
                  </a:txBody>
                  <a:tcPr>
                    <a:solidFill>
                      <a:srgbClr val="F5F5F5"/>
                    </a:solidFill>
                  </a:tcPr>
                </a:tc>
                <a:tc>
                  <a:txBody>
                    <a:bodyPr/>
                    <a:lstStyle/>
                    <a:p>
                      <a:pPr>
                        <a:defRPr sz="1800">
                          <a:solidFill>
                            <a:srgbClr val="212121"/>
                          </a:solidFill>
                        </a:defRPr>
                      </a:pPr>
                      <a:r>
                        <a:t>Crème</a:t>
                      </a:r>
                    </a:p>
                  </a:txBody>
                  <a:tcPr/>
                </a:tc>
              </a:tr>
              <a:tr h="457200">
                <a:tc>
                  <a:txBody>
                    <a:bodyPr/>
                    <a:lstStyle/>
                    <a:p>
                      <a:pPr>
                        <a:defRPr b="1" sz="1800">
                          <a:solidFill>
                            <a:srgbClr val="003366"/>
                          </a:solidFill>
                        </a:defRPr>
                      </a:pPr>
                      <a:r>
                        <a:t>Conditionnement</a:t>
                      </a:r>
                    </a:p>
                  </a:txBody>
                  <a:tcPr>
                    <a:solidFill>
                      <a:srgbClr val="F5F5F5"/>
                    </a:solidFill>
                  </a:tcPr>
                </a:tc>
                <a:tc>
                  <a:txBody>
                    <a:bodyPr/>
                    <a:lstStyle/>
                    <a:p>
                      <a:pPr>
                        <a:defRPr sz="1800">
                          <a:solidFill>
                            <a:srgbClr val="212121"/>
                          </a:solidFill>
                        </a:defRPr>
                      </a:pPr>
                      <a:r>
                        <a:t>Peau douce, lisse et visiblement saine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SYNTHÈSE &amp; ENGAGEMENT</a:t>
            </a:r>
          </a:p>
        </p:txBody>
      </p:sp>
      <p:sp>
        <p:nvSpPr>
          <p:cNvPr id="5" name="TextBox 4"/>
          <p:cNvSpPr txBox="1"/>
          <p:nvPr/>
        </p:nvSpPr>
        <p:spPr>
          <a:xfrm>
            <a:off x="914400" y="2743200"/>
            <a:ext cx="7315200" cy="2743200"/>
          </a:xfrm>
          <a:prstGeom prst="rect">
            <a:avLst/>
          </a:prstGeom>
          <a:noFill/>
        </p:spPr>
        <p:txBody>
          <a:bodyPr wrap="square">
            <a:normAutofit/>
          </a:bodyPr>
          <a:lstStyle/>
          <a:p>
            <a:pPr algn="ctr">
              <a:defRPr sz="3200" b="1">
                <a:solidFill>
                  <a:srgbClr val="009999"/>
                </a:solidFill>
              </a:defRPr>
            </a:pPr>
            <a:r>
              <a:t>Rejoignez le mouvement Vital pour découvrir le secret de Vaseline : découvrez notre offre complète pour une vie quotidienne plus confortable et plus hydratée.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