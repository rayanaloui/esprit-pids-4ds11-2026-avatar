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_vital.png"/>
          <p:cNvPicPr>
            <a:picLocks noChangeAspect="1"/>
          </p:cNvPicPr>
          <p:nvPr/>
        </p:nvPicPr>
        <p:blipFill>
          <a:blip r:embed="rId2"/>
          <a:stretch>
            <a:fillRect/>
          </a:stretch>
        </p:blipFill>
        <p:spPr>
          <a:xfrm>
            <a:off x="4023360" y="731520"/>
            <a:ext cx="1097280" cy="1170432"/>
          </a:xfrm>
          <a:prstGeom prst="rect">
            <a:avLst/>
          </a:prstGeom>
        </p:spPr>
      </p:pic>
      <p:sp>
        <p:nvSpPr>
          <p:cNvPr id="3" name="Rectangle 2"/>
          <p:cNvSpPr/>
          <p:nvPr/>
        </p:nvSpPr>
        <p:spPr>
          <a:xfrm>
            <a:off x="0" y="2743200"/>
            <a:ext cx="9144000" cy="2743200"/>
          </a:xfrm>
          <a:prstGeom prst="rect">
            <a:avLst/>
          </a:prstGeom>
          <a:solidFill>
            <a:srgbClr val="003366"/>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0" y="3017520"/>
            <a:ext cx="9144000" cy="914400"/>
          </a:xfrm>
          <a:prstGeom prst="rect">
            <a:avLst/>
          </a:prstGeom>
          <a:noFill/>
        </p:spPr>
        <p:txBody>
          <a:bodyPr wrap="square">
            <a:normAutofit/>
          </a:bodyPr>
          <a:lstStyle/>
          <a:p>
            <a:pPr algn="ctr">
              <a:defRPr sz="5400" b="1">
                <a:solidFill>
                  <a:srgbClr val="FFFFFF"/>
                </a:solidFill>
              </a:defRPr>
            </a:pPr>
            <a:r>
              <a:t>Vaseline</a:t>
            </a:r>
          </a:p>
        </p:txBody>
      </p:sp>
      <p:sp>
        <p:nvSpPr>
          <p:cNvPr id="5" name="TextBox 4"/>
          <p:cNvSpPr txBox="1"/>
          <p:nvPr/>
        </p:nvSpPr>
        <p:spPr>
          <a:xfrm>
            <a:off x="0" y="4114800"/>
            <a:ext cx="9144000" cy="914400"/>
          </a:xfrm>
          <a:prstGeom prst="rect">
            <a:avLst/>
          </a:prstGeom>
          <a:noFill/>
        </p:spPr>
        <p:txBody>
          <a:bodyPr wrap="square">
            <a:normAutofit/>
          </a:bodyPr>
          <a:lstStyle/>
          <a:p>
            <a:pPr algn="ctr">
              <a:defRPr sz="2200" i="1">
                <a:solidFill>
                  <a:srgbClr val="009999"/>
                </a:solidFill>
              </a:defRPr>
            </a:pPr>
            <a:r>
              <a:t>Vitalisez votre vie quotidienne avec Vaseline, le choix naturel pour un corps hydraté et doux.</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6858000"/>
          </a:xfrm>
          <a:prstGeom prst="rect">
            <a:avLst/>
          </a:prstGeom>
          <a:solidFill>
            <a:srgbClr val="009999"/>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vital.png"/>
          <p:cNvPicPr>
            <a:picLocks noChangeAspect="1"/>
          </p:cNvPicPr>
          <p:nvPr/>
        </p:nvPicPr>
        <p:blipFill>
          <a:blip r:embed="rId2"/>
          <a:stretch>
            <a:fillRect/>
          </a:stretch>
        </p:blipFill>
        <p:spPr>
          <a:xfrm>
            <a:off x="8046720" y="182880"/>
            <a:ext cx="731520" cy="780288"/>
          </a:xfrm>
          <a:prstGeom prst="rect">
            <a:avLst/>
          </a:prstGeom>
        </p:spPr>
      </p:pic>
      <p:sp>
        <p:nvSpPr>
          <p:cNvPr id="4" name="TextBox 3"/>
          <p:cNvSpPr txBox="1"/>
          <p:nvPr/>
        </p:nvSpPr>
        <p:spPr>
          <a:xfrm>
            <a:off x="365760" y="274320"/>
            <a:ext cx="7132320" cy="914400"/>
          </a:xfrm>
          <a:prstGeom prst="rect">
            <a:avLst/>
          </a:prstGeom>
          <a:noFill/>
        </p:spPr>
        <p:txBody>
          <a:bodyPr wrap="none">
            <a:normAutofit/>
          </a:bodyPr>
          <a:lstStyle/>
          <a:p>
            <a:pPr>
              <a:defRPr b="1" sz="2400">
                <a:solidFill>
                  <a:srgbClr val="003366"/>
                </a:solidFill>
              </a:defRPr>
            </a:pPr>
            <a:r>
              <a:t>ANALYSE ET ENJEUX</a:t>
            </a:r>
          </a:p>
        </p:txBody>
      </p:sp>
      <p:sp>
        <p:nvSpPr>
          <p:cNvPr id="5" name="TextBox 4"/>
          <p:cNvSpPr txBox="1"/>
          <p:nvPr/>
        </p:nvSpPr>
        <p:spPr>
          <a:xfrm>
            <a:off x="731520" y="1645920"/>
            <a:ext cx="7772400" cy="4572000"/>
          </a:xfrm>
          <a:prstGeom prst="rect">
            <a:avLst/>
          </a:prstGeom>
          <a:noFill/>
        </p:spPr>
        <p:txBody>
          <a:bodyPr wrap="square">
            <a:normAutofit/>
          </a:bodyPr>
          <a:lstStyle/>
          <a:p>
            <a:pPr>
              <a:defRPr sz="2200">
                <a:solidFill>
                  <a:srgbClr val="212121"/>
                </a:solidFill>
              </a:defRPr>
            </a:pPr>
            <a:r>
              <a:t>Le manque d'hydratation est une préoccupation majeure dans notre société actuelle. Les peaux sèches et irritées peuvent causer des problèmes de santé tels que la dermatite, les ecchymoses et l'apparence pâle. Les produits déshydratants sont souvent trop gras ou trop légers, ne répondant pas aux besoins réels des peaux.</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6858000"/>
          </a:xfrm>
          <a:prstGeom prst="rect">
            <a:avLst/>
          </a:prstGeom>
          <a:solidFill>
            <a:srgbClr val="009999"/>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vital.png"/>
          <p:cNvPicPr>
            <a:picLocks noChangeAspect="1"/>
          </p:cNvPicPr>
          <p:nvPr/>
        </p:nvPicPr>
        <p:blipFill>
          <a:blip r:embed="rId2"/>
          <a:stretch>
            <a:fillRect/>
          </a:stretch>
        </p:blipFill>
        <p:spPr>
          <a:xfrm>
            <a:off x="8046720" y="182880"/>
            <a:ext cx="731520" cy="780288"/>
          </a:xfrm>
          <a:prstGeom prst="rect">
            <a:avLst/>
          </a:prstGeom>
        </p:spPr>
      </p:pic>
      <p:sp>
        <p:nvSpPr>
          <p:cNvPr id="4" name="TextBox 3"/>
          <p:cNvSpPr txBox="1"/>
          <p:nvPr/>
        </p:nvSpPr>
        <p:spPr>
          <a:xfrm>
            <a:off x="365760" y="274320"/>
            <a:ext cx="7132320" cy="914400"/>
          </a:xfrm>
          <a:prstGeom prst="rect">
            <a:avLst/>
          </a:prstGeom>
          <a:noFill/>
        </p:spPr>
        <p:txBody>
          <a:bodyPr wrap="none">
            <a:normAutofit/>
          </a:bodyPr>
          <a:lstStyle/>
          <a:p>
            <a:pPr>
              <a:defRPr b="1" sz="2400">
                <a:solidFill>
                  <a:srgbClr val="003366"/>
                </a:solidFill>
              </a:defRPr>
            </a:pPr>
            <a:r>
              <a:t>LA RÉPONSE VITAL LABS</a:t>
            </a:r>
          </a:p>
        </p:txBody>
      </p:sp>
      <p:sp>
        <p:nvSpPr>
          <p:cNvPr id="5" name="TextBox 4"/>
          <p:cNvSpPr txBox="1"/>
          <p:nvPr/>
        </p:nvSpPr>
        <p:spPr>
          <a:xfrm>
            <a:off x="457200" y="1463040"/>
            <a:ext cx="4389120" cy="4572000"/>
          </a:xfrm>
          <a:prstGeom prst="rect">
            <a:avLst/>
          </a:prstGeom>
          <a:noFill/>
        </p:spPr>
        <p:txBody>
          <a:bodyPr wrap="square">
            <a:normAutofit/>
          </a:bodyPr>
          <a:lstStyle/>
          <a:p>
            <a:pPr>
              <a:defRPr sz="1800"/>
            </a:pPr>
            <a:r>
              <a:t>La formule unique de Vaseline repose sur l'huile de cire de coco et d'olive, riches en acides gras essentiels qui hydratent et nourrissent les peaux. Cette combinaison naturelle permet de créer un film protecteur qui réduit la perte d'eau et maintient une peau douce et lissée.</a:t>
            </a:r>
          </a:p>
        </p:txBody>
      </p:sp>
      <p:pic>
        <p:nvPicPr>
          <p:cNvPr id="6" name="Picture 5" descr="image.png"/>
          <p:cNvPicPr>
            <a:picLocks noChangeAspect="1"/>
          </p:cNvPicPr>
          <p:nvPr/>
        </p:nvPicPr>
        <p:blipFill>
          <a:blip r:embed="rId3"/>
          <a:stretch>
            <a:fillRect/>
          </a:stretch>
        </p:blipFill>
        <p:spPr>
          <a:xfrm>
            <a:off x="5120640" y="1371600"/>
            <a:ext cx="3291840" cy="438912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6858000"/>
          </a:xfrm>
          <a:prstGeom prst="rect">
            <a:avLst/>
          </a:prstGeom>
          <a:solidFill>
            <a:srgbClr val="009999"/>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vital.png"/>
          <p:cNvPicPr>
            <a:picLocks noChangeAspect="1"/>
          </p:cNvPicPr>
          <p:nvPr/>
        </p:nvPicPr>
        <p:blipFill>
          <a:blip r:embed="rId2"/>
          <a:stretch>
            <a:fillRect/>
          </a:stretch>
        </p:blipFill>
        <p:spPr>
          <a:xfrm>
            <a:off x="8046720" y="182880"/>
            <a:ext cx="731520" cy="780288"/>
          </a:xfrm>
          <a:prstGeom prst="rect">
            <a:avLst/>
          </a:prstGeom>
        </p:spPr>
      </p:pic>
      <p:sp>
        <p:nvSpPr>
          <p:cNvPr id="4" name="TextBox 3"/>
          <p:cNvSpPr txBox="1"/>
          <p:nvPr/>
        </p:nvSpPr>
        <p:spPr>
          <a:xfrm>
            <a:off x="365760" y="274320"/>
            <a:ext cx="7132320" cy="914400"/>
          </a:xfrm>
          <a:prstGeom prst="rect">
            <a:avLst/>
          </a:prstGeom>
          <a:noFill/>
        </p:spPr>
        <p:txBody>
          <a:bodyPr wrap="none">
            <a:normAutofit/>
          </a:bodyPr>
          <a:lstStyle/>
          <a:p>
            <a:pPr>
              <a:defRPr b="1" sz="2400">
                <a:solidFill>
                  <a:srgbClr val="003366"/>
                </a:solidFill>
              </a:defRPr>
            </a:pPr>
            <a:r>
              <a:t>PILIERS DE PERFORMANCE</a:t>
            </a:r>
          </a:p>
        </p:txBody>
      </p:sp>
      <p:sp>
        <p:nvSpPr>
          <p:cNvPr id="5" name="TextBox 4"/>
          <p:cNvSpPr txBox="1"/>
          <p:nvPr/>
        </p:nvSpPr>
        <p:spPr>
          <a:xfrm>
            <a:off x="731520" y="1371600"/>
            <a:ext cx="7772400" cy="5029200"/>
          </a:xfrm>
          <a:prstGeom prst="rect">
            <a:avLst/>
          </a:prstGeom>
          <a:noFill/>
        </p:spPr>
        <p:txBody>
          <a:bodyPr wrap="square">
            <a:normAutofit/>
          </a:bodyPr>
          <a:lstStyle/>
          <a:p>
            <a:pPr>
              <a:defRPr sz="1800"/>
            </a:pPr>
            <a:r>
              <a:t>1. Hydratation naturelle : Vaseline repose sur les huiles naturelles pour hydrater les peaux.</a:t>
            </a:r>
            <a:br/>
            <a:r>
              <a:t>2. Protection contre les irritations : La formule unique de Vaseline protège les peaux contre les irritants et les allergènes.</a:t>
            </a:r>
            <a:br/>
            <a:r>
              <a:t>3. Douceur et lubrification : Vaseline est parfaite pour les personnes ayant des peaux sèches, grasses ou sensibles.</a:t>
            </a:r>
            <a:br/>
            <a:r>
              <a:t>4. Sécurité sans compromis : Pas d'ingrédients artificiels ni de parabènes dans la formule.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6858000"/>
          </a:xfrm>
          <a:prstGeom prst="rect">
            <a:avLst/>
          </a:prstGeom>
          <a:solidFill>
            <a:srgbClr val="009999"/>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vital.png"/>
          <p:cNvPicPr>
            <a:picLocks noChangeAspect="1"/>
          </p:cNvPicPr>
          <p:nvPr/>
        </p:nvPicPr>
        <p:blipFill>
          <a:blip r:embed="rId2"/>
          <a:stretch>
            <a:fillRect/>
          </a:stretch>
        </p:blipFill>
        <p:spPr>
          <a:xfrm>
            <a:off x="8046720" y="182880"/>
            <a:ext cx="731520" cy="780288"/>
          </a:xfrm>
          <a:prstGeom prst="rect">
            <a:avLst/>
          </a:prstGeom>
        </p:spPr>
      </p:pic>
      <p:sp>
        <p:nvSpPr>
          <p:cNvPr id="4" name="TextBox 3"/>
          <p:cNvSpPr txBox="1"/>
          <p:nvPr/>
        </p:nvSpPr>
        <p:spPr>
          <a:xfrm>
            <a:off x="365760" y="274320"/>
            <a:ext cx="7132320" cy="914400"/>
          </a:xfrm>
          <a:prstGeom prst="rect">
            <a:avLst/>
          </a:prstGeom>
          <a:noFill/>
        </p:spPr>
        <p:txBody>
          <a:bodyPr wrap="none">
            <a:normAutofit/>
          </a:bodyPr>
          <a:lstStyle/>
          <a:p>
            <a:pPr>
              <a:defRPr b="1" sz="2400">
                <a:solidFill>
                  <a:srgbClr val="003366"/>
                </a:solidFill>
              </a:defRPr>
            </a:pPr>
            <a:r>
              <a:t>ENGAGEMENT QUALITÉ &amp; SCIENCE</a:t>
            </a:r>
          </a:p>
        </p:txBody>
      </p:sp>
      <p:sp>
        <p:nvSpPr>
          <p:cNvPr id="5" name="TextBox 4"/>
          <p:cNvSpPr txBox="1"/>
          <p:nvPr/>
        </p:nvSpPr>
        <p:spPr>
          <a:xfrm>
            <a:off x="731520" y="1371600"/>
            <a:ext cx="7772400" cy="2011680"/>
          </a:xfrm>
          <a:prstGeom prst="rect">
            <a:avLst/>
          </a:prstGeom>
          <a:noFill/>
        </p:spPr>
        <p:txBody>
          <a:bodyPr wrap="square">
            <a:normAutofit/>
          </a:bodyPr>
          <a:lstStyle/>
          <a:p>
            <a:pPr>
              <a:defRPr sz="2000"/>
            </a:pPr>
            <a:r>
              <a:t>La fabrication de Vaseline est menée avec une excellence technique qui garantit une qualité exceptionnelle. La forme crème permet un excellent mélange et une absorption rapide, ce qui rend Vaseline idéale pour les peaux sèches ou irritées.</a:t>
            </a:r>
          </a:p>
        </p:txBody>
      </p:sp>
      <p:graphicFrame>
        <p:nvGraphicFramePr>
          <p:cNvPr id="6" name="Table 5"/>
          <p:cNvGraphicFramePr>
            <a:graphicFrameLocks noGrp="1"/>
          </p:cNvGraphicFramePr>
          <p:nvPr/>
        </p:nvGraphicFramePr>
        <p:xfrm>
          <a:off x="731520" y="3657600"/>
          <a:ext cx="7680960" cy="1828800"/>
        </p:xfrm>
        <a:graphic>
          <a:graphicData uri="http://schemas.openxmlformats.org/drawingml/2006/table">
            <a:tbl>
              <a:tblPr firstRow="1" bandRow="1">
                <a:tableStyleId>{5C22544A-7EE6-4342-B048-85BDC9FD1C3A}</a:tableStyleId>
              </a:tblPr>
              <a:tblGrid>
                <a:gridCol w="2011680"/>
                <a:gridCol w="5669280"/>
              </a:tblGrid>
              <a:tr h="457200">
                <a:tc>
                  <a:txBody>
                    <a:bodyPr/>
                    <a:lstStyle/>
                    <a:p>
                      <a:pPr>
                        <a:defRPr b="1" sz="1800">
                          <a:solidFill>
                            <a:srgbClr val="003366"/>
                          </a:solidFill>
                        </a:defRPr>
                      </a:pPr>
                      <a:r>
                        <a:t>Catégorie</a:t>
                      </a:r>
                    </a:p>
                  </a:txBody>
                  <a:tcPr>
                    <a:solidFill>
                      <a:srgbClr val="F5F5F5"/>
                    </a:solidFill>
                  </a:tcPr>
                </a:tc>
                <a:tc>
                  <a:txBody>
                    <a:bodyPr/>
                    <a:lstStyle/>
                    <a:p>
                      <a:pPr>
                        <a:defRPr sz="1800">
                          <a:solidFill>
                            <a:srgbClr val="212121"/>
                          </a:solidFill>
                        </a:defRPr>
                      </a:pPr>
                      <a:r>
                        <a:t>Peau</a:t>
                      </a:r>
                    </a:p>
                  </a:txBody>
                  <a:tcPr/>
                </a:tc>
              </a:tr>
              <a:tr h="457200">
                <a:tc>
                  <a:txBody>
                    <a:bodyPr/>
                    <a:lstStyle/>
                    <a:p>
                      <a:pPr>
                        <a:defRPr b="1" sz="1800">
                          <a:solidFill>
                            <a:srgbClr val="003366"/>
                          </a:solidFill>
                        </a:defRPr>
                      </a:pPr>
                      <a:r>
                        <a:t>Classe</a:t>
                      </a:r>
                    </a:p>
                  </a:txBody>
                  <a:tcPr>
                    <a:solidFill>
                      <a:srgbClr val="F5F5F5"/>
                    </a:solidFill>
                  </a:tcPr>
                </a:tc>
                <a:tc>
                  <a:txBody>
                    <a:bodyPr/>
                    <a:lstStyle/>
                    <a:p>
                      <a:pPr>
                        <a:defRPr sz="1800">
                          <a:solidFill>
                            <a:srgbClr val="212121"/>
                          </a:solidFill>
                        </a:defRPr>
                      </a:pPr>
                      <a:r>
                        <a:t>Crème</a:t>
                      </a:r>
                    </a:p>
                  </a:txBody>
                  <a:tcPr/>
                </a:tc>
              </a:tr>
              <a:tr h="457200">
                <a:tc>
                  <a:txBody>
                    <a:bodyPr/>
                    <a:lstStyle/>
                    <a:p>
                      <a:pPr>
                        <a:defRPr b="1" sz="1800">
                          <a:solidFill>
                            <a:srgbClr val="003366"/>
                          </a:solidFill>
                        </a:defRPr>
                      </a:pPr>
                      <a:r>
                        <a:t>Forme</a:t>
                      </a:r>
                    </a:p>
                  </a:txBody>
                  <a:tcPr>
                    <a:solidFill>
                      <a:srgbClr val="F5F5F5"/>
                    </a:solidFill>
                  </a:tcPr>
                </a:tc>
                <a:tc>
                  <a:txBody>
                    <a:bodyPr/>
                    <a:lstStyle/>
                    <a:p>
                      <a:pPr>
                        <a:defRPr sz="1800">
                          <a:solidFill>
                            <a:srgbClr val="212121"/>
                          </a:solidFill>
                        </a:defRPr>
                      </a:pPr>
                      <a:r>
                        <a:t>Crème</a:t>
                      </a:r>
                    </a:p>
                  </a:txBody>
                  <a:tcPr/>
                </a:tc>
              </a:tr>
              <a:tr h="457200">
                <a:tc>
                  <a:txBody>
                    <a:bodyPr/>
                    <a:lstStyle/>
                    <a:p>
                      <a:pPr>
                        <a:defRPr b="1" sz="1800">
                          <a:solidFill>
                            <a:srgbClr val="003366"/>
                          </a:solidFill>
                        </a:defRPr>
                      </a:pPr>
                      <a:r>
                        <a:t>Conditionnement</a:t>
                      </a:r>
                    </a:p>
                  </a:txBody>
                  <a:tcPr>
                    <a:solidFill>
                      <a:srgbClr val="F5F5F5"/>
                    </a:solidFill>
                  </a:tcPr>
                </a:tc>
                <a:tc>
                  <a:txBody>
                    <a:bodyPr/>
                    <a:lstStyle/>
                    <a:p>
                      <a:pPr>
                        <a:defRPr sz="1800">
                          <a:solidFill>
                            <a:srgbClr val="212121"/>
                          </a:solidFill>
                        </a:defRPr>
                      </a:pPr>
                      <a:r>
                        <a:t>Peau douce, lisse et visiblement saine</a:t>
                      </a:r>
                    </a:p>
                  </a:txBody>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6858000"/>
          </a:xfrm>
          <a:prstGeom prst="rect">
            <a:avLst/>
          </a:prstGeom>
          <a:solidFill>
            <a:srgbClr val="009999"/>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vital.png"/>
          <p:cNvPicPr>
            <a:picLocks noChangeAspect="1"/>
          </p:cNvPicPr>
          <p:nvPr/>
        </p:nvPicPr>
        <p:blipFill>
          <a:blip r:embed="rId2"/>
          <a:stretch>
            <a:fillRect/>
          </a:stretch>
        </p:blipFill>
        <p:spPr>
          <a:xfrm>
            <a:off x="8046720" y="182880"/>
            <a:ext cx="731520" cy="780288"/>
          </a:xfrm>
          <a:prstGeom prst="rect">
            <a:avLst/>
          </a:prstGeom>
        </p:spPr>
      </p:pic>
      <p:sp>
        <p:nvSpPr>
          <p:cNvPr id="4" name="TextBox 3"/>
          <p:cNvSpPr txBox="1"/>
          <p:nvPr/>
        </p:nvSpPr>
        <p:spPr>
          <a:xfrm>
            <a:off x="365760" y="274320"/>
            <a:ext cx="7132320" cy="914400"/>
          </a:xfrm>
          <a:prstGeom prst="rect">
            <a:avLst/>
          </a:prstGeom>
          <a:noFill/>
        </p:spPr>
        <p:txBody>
          <a:bodyPr wrap="none">
            <a:normAutofit/>
          </a:bodyPr>
          <a:lstStyle/>
          <a:p>
            <a:pPr>
              <a:defRPr b="1" sz="2400">
                <a:solidFill>
                  <a:srgbClr val="003366"/>
                </a:solidFill>
              </a:defRPr>
            </a:pPr>
            <a:r>
              <a:t>SYNTHÈSE &amp; ENGAGEMENT</a:t>
            </a:r>
          </a:p>
        </p:txBody>
      </p:sp>
      <p:sp>
        <p:nvSpPr>
          <p:cNvPr id="5" name="TextBox 4"/>
          <p:cNvSpPr txBox="1"/>
          <p:nvPr/>
        </p:nvSpPr>
        <p:spPr>
          <a:xfrm>
            <a:off x="914400" y="2743200"/>
            <a:ext cx="7315200" cy="2743200"/>
          </a:xfrm>
          <a:prstGeom prst="rect">
            <a:avLst/>
          </a:prstGeom>
          <a:noFill/>
        </p:spPr>
        <p:txBody>
          <a:bodyPr wrap="square">
            <a:normAutofit/>
          </a:bodyPr>
          <a:lstStyle/>
          <a:p>
            <a:pPr algn="ctr">
              <a:defRPr sz="3200" b="1">
                <a:solidFill>
                  <a:srgbClr val="009999"/>
                </a:solidFill>
              </a:defRPr>
            </a:pPr>
            <a:r>
              <a:t>Découvrez la force de Vital en choisissant Vaseline comme votre partenaire de beauté quotidienne. Expérimentez son hydratant et son lubrifiant naturel pour un corps doux et lissé.</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