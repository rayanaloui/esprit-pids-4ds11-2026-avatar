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_vital.png"/>
          <p:cNvPicPr>
            <a:picLocks noChangeAspect="1"/>
          </p:cNvPicPr>
          <p:nvPr/>
        </p:nvPicPr>
        <p:blipFill>
          <a:blip r:embed="rId2"/>
          <a:stretch>
            <a:fillRect/>
          </a:stretch>
        </p:blipFill>
        <p:spPr>
          <a:xfrm>
            <a:off x="4023360" y="731520"/>
            <a:ext cx="1097280" cy="1170432"/>
          </a:xfrm>
          <a:prstGeom prst="rect">
            <a:avLst/>
          </a:prstGeom>
        </p:spPr>
      </p:pic>
      <p:sp>
        <p:nvSpPr>
          <p:cNvPr id="3" name="Rectangle 2"/>
          <p:cNvSpPr/>
          <p:nvPr/>
        </p:nvSpPr>
        <p:spPr>
          <a:xfrm>
            <a:off x="0" y="2743200"/>
            <a:ext cx="9144000" cy="2743200"/>
          </a:xfrm>
          <a:prstGeom prst="rect">
            <a:avLst/>
          </a:prstGeom>
          <a:solidFill>
            <a:srgbClr val="003366"/>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3017520"/>
            <a:ext cx="9144000" cy="914400"/>
          </a:xfrm>
          <a:prstGeom prst="rect">
            <a:avLst/>
          </a:prstGeom>
          <a:noFill/>
        </p:spPr>
        <p:txBody>
          <a:bodyPr wrap="square">
            <a:normAutofit/>
          </a:bodyPr>
          <a:lstStyle/>
          <a:p>
            <a:pPr algn="ctr">
              <a:defRPr sz="5400" b="1">
                <a:solidFill>
                  <a:srgbClr val="FFFFFF"/>
                </a:solidFill>
              </a:defRPr>
            </a:pPr>
            <a:r>
              <a:t>DERMADOUCE</a:t>
            </a:r>
          </a:p>
        </p:txBody>
      </p:sp>
      <p:sp>
        <p:nvSpPr>
          <p:cNvPr id="5" name="TextBox 4"/>
          <p:cNvSpPr txBox="1"/>
          <p:nvPr/>
        </p:nvSpPr>
        <p:spPr>
          <a:xfrm>
            <a:off x="0" y="4114800"/>
            <a:ext cx="9144000" cy="914400"/>
          </a:xfrm>
          <a:prstGeom prst="rect">
            <a:avLst/>
          </a:prstGeom>
          <a:noFill/>
        </p:spPr>
        <p:txBody>
          <a:bodyPr wrap="square">
            <a:normAutofit/>
          </a:bodyPr>
          <a:lstStyle/>
          <a:p>
            <a:pPr algn="ctr">
              <a:defRPr sz="2200" i="1">
                <a:solidFill>
                  <a:srgbClr val="009999"/>
                </a:solidFill>
              </a:defRPr>
            </a:pPr>
            <a:r>
              <a:t>Dermadouce : La solution de soins cutanés personnalisée, créée par les experts du laboratoire Vital.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9999"/>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vital.png"/>
          <p:cNvPicPr>
            <a:picLocks noChangeAspect="1"/>
          </p:cNvPicPr>
          <p:nvPr/>
        </p:nvPicPr>
        <p:blipFill>
          <a:blip r:embed="rId2"/>
          <a:stretch>
            <a:fillRect/>
          </a:stretch>
        </p:blipFill>
        <p:spPr>
          <a:xfrm>
            <a:off x="8046720" y="182880"/>
            <a:ext cx="731520" cy="780288"/>
          </a:xfrm>
          <a:prstGeom prst="rect">
            <a:avLst/>
          </a:prstGeom>
        </p:spPr>
      </p:pic>
      <p:sp>
        <p:nvSpPr>
          <p:cNvPr id="4" name="TextBox 3"/>
          <p:cNvSpPr txBox="1"/>
          <p:nvPr/>
        </p:nvSpPr>
        <p:spPr>
          <a:xfrm>
            <a:off x="365760" y="274320"/>
            <a:ext cx="7132320" cy="914400"/>
          </a:xfrm>
          <a:prstGeom prst="rect">
            <a:avLst/>
          </a:prstGeom>
          <a:noFill/>
        </p:spPr>
        <p:txBody>
          <a:bodyPr wrap="none">
            <a:normAutofit/>
          </a:bodyPr>
          <a:lstStyle/>
          <a:p>
            <a:pPr>
              <a:defRPr b="1" sz="2400">
                <a:solidFill>
                  <a:srgbClr val="003366"/>
                </a:solidFill>
              </a:defRPr>
            </a:pPr>
            <a:r>
              <a:t>ANALYSE ET ENJEUX</a:t>
            </a:r>
          </a:p>
        </p:txBody>
      </p:sp>
      <p:sp>
        <p:nvSpPr>
          <p:cNvPr id="5" name="TextBox 4"/>
          <p:cNvSpPr txBox="1"/>
          <p:nvPr/>
        </p:nvSpPr>
        <p:spPr>
          <a:xfrm>
            <a:off x="731520" y="1645920"/>
            <a:ext cx="7772400" cy="4572000"/>
          </a:xfrm>
          <a:prstGeom prst="rect">
            <a:avLst/>
          </a:prstGeom>
          <a:noFill/>
        </p:spPr>
        <p:txBody>
          <a:bodyPr wrap="square">
            <a:normAutofit/>
          </a:bodyPr>
          <a:lstStyle/>
          <a:p>
            <a:pPr>
              <a:defRPr sz="2200">
                <a:solidFill>
                  <a:srgbClr val="212121"/>
                </a:solidFill>
              </a:defRPr>
            </a:pPr>
            <a:r>
              <a:t>Les patients souffrent souvent de peaux sensibles et irritées, entraînant des démangeaisons et des éruptions cutanées. Les produits commerciaux traditionnels ne répondent pas aux besoins individuels de chaque patient, ce qui peut conduire à une récidive des problèmes de peau.</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9999"/>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vital.png"/>
          <p:cNvPicPr>
            <a:picLocks noChangeAspect="1"/>
          </p:cNvPicPr>
          <p:nvPr/>
        </p:nvPicPr>
        <p:blipFill>
          <a:blip r:embed="rId2"/>
          <a:stretch>
            <a:fillRect/>
          </a:stretch>
        </p:blipFill>
        <p:spPr>
          <a:xfrm>
            <a:off x="8046720" y="182880"/>
            <a:ext cx="731520" cy="780288"/>
          </a:xfrm>
          <a:prstGeom prst="rect">
            <a:avLst/>
          </a:prstGeom>
        </p:spPr>
      </p:pic>
      <p:sp>
        <p:nvSpPr>
          <p:cNvPr id="4" name="TextBox 3"/>
          <p:cNvSpPr txBox="1"/>
          <p:nvPr/>
        </p:nvSpPr>
        <p:spPr>
          <a:xfrm>
            <a:off x="365760" y="274320"/>
            <a:ext cx="7132320" cy="914400"/>
          </a:xfrm>
          <a:prstGeom prst="rect">
            <a:avLst/>
          </a:prstGeom>
          <a:noFill/>
        </p:spPr>
        <p:txBody>
          <a:bodyPr wrap="none">
            <a:normAutofit/>
          </a:bodyPr>
          <a:lstStyle/>
          <a:p>
            <a:pPr>
              <a:defRPr b="1" sz="2400">
                <a:solidFill>
                  <a:srgbClr val="003366"/>
                </a:solidFill>
              </a:defRPr>
            </a:pPr>
            <a:r>
              <a:t>LA RÉPONSE VITAL LABS</a:t>
            </a:r>
          </a:p>
        </p:txBody>
      </p:sp>
      <p:sp>
        <p:nvSpPr>
          <p:cNvPr id="5" name="TextBox 4"/>
          <p:cNvSpPr txBox="1"/>
          <p:nvPr/>
        </p:nvSpPr>
        <p:spPr>
          <a:xfrm>
            <a:off x="457200" y="1463040"/>
            <a:ext cx="4389120" cy="4572000"/>
          </a:xfrm>
          <a:prstGeom prst="rect">
            <a:avLst/>
          </a:prstGeom>
          <a:noFill/>
        </p:spPr>
        <p:txBody>
          <a:bodyPr wrap="square">
            <a:normAutofit/>
          </a:bodyPr>
          <a:lstStyle/>
          <a:p>
            <a:pPr>
              <a:defRPr sz="1800"/>
            </a:pPr>
            <a:r>
              <a:t>Dermadouce utilise une formule unique basée sur des ingrédients naturels et des technologies de pointe pour créer un savon personnalisé en fonction des besoins spécifiques de chaque patient. Cette formule est conçue pour hydrater, calmer et protéger la peau, tout en éliminant les irritants et les facteurs allergènes.</a:t>
            </a:r>
          </a:p>
        </p:txBody>
      </p:sp>
      <p:pic>
        <p:nvPicPr>
          <p:cNvPr id="6" name="Picture 5" descr="image.png"/>
          <p:cNvPicPr>
            <a:picLocks noChangeAspect="1"/>
          </p:cNvPicPr>
          <p:nvPr/>
        </p:nvPicPr>
        <p:blipFill>
          <a:blip r:embed="rId3"/>
          <a:stretch>
            <a:fillRect/>
          </a:stretch>
        </p:blipFill>
        <p:spPr>
          <a:xfrm>
            <a:off x="5120640" y="1371600"/>
            <a:ext cx="3291840" cy="438912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9999"/>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vital.png"/>
          <p:cNvPicPr>
            <a:picLocks noChangeAspect="1"/>
          </p:cNvPicPr>
          <p:nvPr/>
        </p:nvPicPr>
        <p:blipFill>
          <a:blip r:embed="rId2"/>
          <a:stretch>
            <a:fillRect/>
          </a:stretch>
        </p:blipFill>
        <p:spPr>
          <a:xfrm>
            <a:off x="8046720" y="182880"/>
            <a:ext cx="731520" cy="780288"/>
          </a:xfrm>
          <a:prstGeom prst="rect">
            <a:avLst/>
          </a:prstGeom>
        </p:spPr>
      </p:pic>
      <p:sp>
        <p:nvSpPr>
          <p:cNvPr id="4" name="TextBox 3"/>
          <p:cNvSpPr txBox="1"/>
          <p:nvPr/>
        </p:nvSpPr>
        <p:spPr>
          <a:xfrm>
            <a:off x="365760" y="274320"/>
            <a:ext cx="7132320" cy="914400"/>
          </a:xfrm>
          <a:prstGeom prst="rect">
            <a:avLst/>
          </a:prstGeom>
          <a:noFill/>
        </p:spPr>
        <p:txBody>
          <a:bodyPr wrap="none">
            <a:normAutofit/>
          </a:bodyPr>
          <a:lstStyle/>
          <a:p>
            <a:pPr>
              <a:defRPr b="1" sz="2400">
                <a:solidFill>
                  <a:srgbClr val="003366"/>
                </a:solidFill>
              </a:defRPr>
            </a:pPr>
            <a:r>
              <a:t>PILIERS DE PERFORMANCE</a:t>
            </a:r>
          </a:p>
        </p:txBody>
      </p:sp>
      <p:sp>
        <p:nvSpPr>
          <p:cNvPr id="5" name="TextBox 4"/>
          <p:cNvSpPr txBox="1"/>
          <p:nvPr/>
        </p:nvSpPr>
        <p:spPr>
          <a:xfrm>
            <a:off x="731520" y="1371600"/>
            <a:ext cx="7772400" cy="5029200"/>
          </a:xfrm>
          <a:prstGeom prst="rect">
            <a:avLst/>
          </a:prstGeom>
          <a:noFill/>
        </p:spPr>
        <p:txBody>
          <a:bodyPr wrap="square">
            <a:normAutofit/>
          </a:bodyPr>
          <a:lstStyle/>
          <a:p>
            <a:pPr>
              <a:defRPr sz="1800"/>
            </a:pPr>
            <a:r>
              <a:t>- Effet personnalisé : Dermadouce adapte son savon à chaque patient pour répondre à ses besoins uniques.</a:t>
            </a:r>
            <a:br/>
            <a:r>
              <a:t>- Ingrédients naturels : Nous utilisons des ingrédients naturels de haute qualité pour garantir la sécurité et l'efficacité.</a:t>
            </a:r>
            <a:br/>
            <a:r>
              <a:t>- Formule unique : Notre formule est conçue pour être spécifique aux besoins de chaque patient, ce qui en fait une solution révolutionnaire dans le domaine des soins cutanés.</a:t>
            </a:r>
            <a:br/>
            <a:r>
              <a:t>- Résultats rapides : Dermadouce offre des résultats visibles et rapides, permettant aux patients de retrouver leur confiance en peau.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9999"/>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vital.png"/>
          <p:cNvPicPr>
            <a:picLocks noChangeAspect="1"/>
          </p:cNvPicPr>
          <p:nvPr/>
        </p:nvPicPr>
        <p:blipFill>
          <a:blip r:embed="rId2"/>
          <a:stretch>
            <a:fillRect/>
          </a:stretch>
        </p:blipFill>
        <p:spPr>
          <a:xfrm>
            <a:off x="8046720" y="182880"/>
            <a:ext cx="731520" cy="780288"/>
          </a:xfrm>
          <a:prstGeom prst="rect">
            <a:avLst/>
          </a:prstGeom>
        </p:spPr>
      </p:pic>
      <p:sp>
        <p:nvSpPr>
          <p:cNvPr id="4" name="TextBox 3"/>
          <p:cNvSpPr txBox="1"/>
          <p:nvPr/>
        </p:nvSpPr>
        <p:spPr>
          <a:xfrm>
            <a:off x="365760" y="274320"/>
            <a:ext cx="7132320" cy="914400"/>
          </a:xfrm>
          <a:prstGeom prst="rect">
            <a:avLst/>
          </a:prstGeom>
          <a:noFill/>
        </p:spPr>
        <p:txBody>
          <a:bodyPr wrap="none">
            <a:normAutofit/>
          </a:bodyPr>
          <a:lstStyle/>
          <a:p>
            <a:pPr>
              <a:defRPr b="1" sz="2400">
                <a:solidFill>
                  <a:srgbClr val="003366"/>
                </a:solidFill>
              </a:defRPr>
            </a:pPr>
            <a:r>
              <a:t>ENGAGEMENT QUALITÉ &amp; SCIENCE</a:t>
            </a:r>
          </a:p>
        </p:txBody>
      </p:sp>
      <p:sp>
        <p:nvSpPr>
          <p:cNvPr id="5" name="TextBox 4"/>
          <p:cNvSpPr txBox="1"/>
          <p:nvPr/>
        </p:nvSpPr>
        <p:spPr>
          <a:xfrm>
            <a:off x="731520" y="1371600"/>
            <a:ext cx="7772400" cy="2011680"/>
          </a:xfrm>
          <a:prstGeom prst="rect">
            <a:avLst/>
          </a:prstGeom>
          <a:noFill/>
        </p:spPr>
        <p:txBody>
          <a:bodyPr wrap="square">
            <a:normAutofit/>
          </a:bodyPr>
          <a:lstStyle/>
          <a:p>
            <a:pPr>
              <a:defRPr sz="2000"/>
            </a:pPr>
            <a:r>
              <a:t>Notre savon est fabriqué avec une excellence de fabrication exceptionnelle, garantissant une forme soigneusement sélectionnée pour maximiser l'efficacité. La forme Savon est conçue pour être confortable et facile à utiliser, offrant une expérience utilisateur optimale.</a:t>
            </a:r>
          </a:p>
        </p:txBody>
      </p:sp>
      <p:graphicFrame>
        <p:nvGraphicFramePr>
          <p:cNvPr id="6" name="Table 5"/>
          <p:cNvGraphicFramePr>
            <a:graphicFrameLocks noGrp="1"/>
          </p:cNvGraphicFramePr>
          <p:nvPr/>
        </p:nvGraphicFramePr>
        <p:xfrm>
          <a:off x="731520" y="3657600"/>
          <a:ext cx="7680960" cy="1828800"/>
        </p:xfrm>
        <a:graphic>
          <a:graphicData uri="http://schemas.openxmlformats.org/drawingml/2006/table">
            <a:tbl>
              <a:tblPr firstRow="1" bandRow="1">
                <a:tableStyleId>{5C22544A-7EE6-4342-B048-85BDC9FD1C3A}</a:tableStyleId>
              </a:tblPr>
              <a:tblGrid>
                <a:gridCol w="2011680"/>
                <a:gridCol w="5669280"/>
              </a:tblGrid>
              <a:tr h="457200">
                <a:tc>
                  <a:txBody>
                    <a:bodyPr/>
                    <a:lstStyle/>
                    <a:p>
                      <a:pPr>
                        <a:defRPr b="1" sz="1800">
                          <a:solidFill>
                            <a:srgbClr val="003366"/>
                          </a:solidFill>
                        </a:defRPr>
                      </a:pPr>
                      <a:r>
                        <a:t>Catégorie</a:t>
                      </a:r>
                    </a:p>
                  </a:txBody>
                  <a:tcPr>
                    <a:solidFill>
                      <a:srgbClr val="F5F5F5"/>
                    </a:solidFill>
                  </a:tcPr>
                </a:tc>
                <a:tc>
                  <a:txBody>
                    <a:bodyPr/>
                    <a:lstStyle/>
                    <a:p>
                      <a:pPr>
                        <a:defRPr sz="1800">
                          <a:solidFill>
                            <a:srgbClr val="212121"/>
                          </a:solidFill>
                        </a:defRPr>
                      </a:pPr>
                      <a:r>
                        <a:t>Exfoliant, Peau</a:t>
                      </a:r>
                    </a:p>
                  </a:txBody>
                  <a:tcPr/>
                </a:tc>
              </a:tr>
              <a:tr h="457200">
                <a:tc>
                  <a:txBody>
                    <a:bodyPr/>
                    <a:lstStyle/>
                    <a:p>
                      <a:pPr>
                        <a:defRPr b="1" sz="1800">
                          <a:solidFill>
                            <a:srgbClr val="003366"/>
                          </a:solidFill>
                        </a:defRPr>
                      </a:pPr>
                      <a:r>
                        <a:t>Classe</a:t>
                      </a:r>
                    </a:p>
                  </a:txBody>
                  <a:tcPr>
                    <a:solidFill>
                      <a:srgbClr val="F5F5F5"/>
                    </a:solidFill>
                  </a:tcPr>
                </a:tc>
                <a:tc>
                  <a:txBody>
                    <a:bodyPr/>
                    <a:lstStyle/>
                    <a:p>
                      <a:pPr>
                        <a:defRPr sz="1800">
                          <a:solidFill>
                            <a:srgbClr val="212121"/>
                          </a:solidFill>
                        </a:defRPr>
                      </a:pPr>
                      <a:r>
                        <a:t>Savon dermatologique</a:t>
                      </a:r>
                    </a:p>
                  </a:txBody>
                  <a:tcPr/>
                </a:tc>
              </a:tr>
              <a:tr h="457200">
                <a:tc>
                  <a:txBody>
                    <a:bodyPr/>
                    <a:lstStyle/>
                    <a:p>
                      <a:pPr>
                        <a:defRPr b="1" sz="1800">
                          <a:solidFill>
                            <a:srgbClr val="003366"/>
                          </a:solidFill>
                        </a:defRPr>
                      </a:pPr>
                      <a:r>
                        <a:t>Forme</a:t>
                      </a:r>
                    </a:p>
                  </a:txBody>
                  <a:tcPr>
                    <a:solidFill>
                      <a:srgbClr val="F5F5F5"/>
                    </a:solidFill>
                  </a:tcPr>
                </a:tc>
                <a:tc>
                  <a:txBody>
                    <a:bodyPr/>
                    <a:lstStyle/>
                    <a:p>
                      <a:pPr>
                        <a:defRPr sz="1800">
                          <a:solidFill>
                            <a:srgbClr val="212121"/>
                          </a:solidFill>
                        </a:defRPr>
                      </a:pPr>
                      <a:r>
                        <a:t>Savon</a:t>
                      </a:r>
                    </a:p>
                  </a:txBody>
                  <a:tcPr/>
                </a:tc>
              </a:tr>
              <a:tr h="457200">
                <a:tc>
                  <a:txBody>
                    <a:bodyPr/>
                    <a:lstStyle/>
                    <a:p>
                      <a:pPr>
                        <a:defRPr b="1" sz="1800">
                          <a:solidFill>
                            <a:srgbClr val="003366"/>
                          </a:solidFill>
                        </a:defRPr>
                      </a:pPr>
                      <a:r>
                        <a:t>Conditionnement</a:t>
                      </a:r>
                    </a:p>
                  </a:txBody>
                  <a:tcPr>
                    <a:solidFill>
                      <a:srgbClr val="F5F5F5"/>
                    </a:solidFill>
                  </a:tcPr>
                </a:tc>
                <a:tc>
                  <a:txBody>
                    <a:bodyPr/>
                    <a:lstStyle/>
                    <a:p>
                      <a:pPr>
                        <a:defRPr sz="1800">
                          <a:solidFill>
                            <a:srgbClr val="212121"/>
                          </a:solidFill>
                        </a:defRPr>
                      </a:pPr>
                      <a:r>
                        <a:t>Savon de 90 gr</a:t>
                      </a:r>
                    </a:p>
                  </a:txBody>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9999"/>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vital.png"/>
          <p:cNvPicPr>
            <a:picLocks noChangeAspect="1"/>
          </p:cNvPicPr>
          <p:nvPr/>
        </p:nvPicPr>
        <p:blipFill>
          <a:blip r:embed="rId2"/>
          <a:stretch>
            <a:fillRect/>
          </a:stretch>
        </p:blipFill>
        <p:spPr>
          <a:xfrm>
            <a:off x="8046720" y="182880"/>
            <a:ext cx="731520" cy="780288"/>
          </a:xfrm>
          <a:prstGeom prst="rect">
            <a:avLst/>
          </a:prstGeom>
        </p:spPr>
      </p:pic>
      <p:sp>
        <p:nvSpPr>
          <p:cNvPr id="4" name="TextBox 3"/>
          <p:cNvSpPr txBox="1"/>
          <p:nvPr/>
        </p:nvSpPr>
        <p:spPr>
          <a:xfrm>
            <a:off x="365760" y="274320"/>
            <a:ext cx="7132320" cy="914400"/>
          </a:xfrm>
          <a:prstGeom prst="rect">
            <a:avLst/>
          </a:prstGeom>
          <a:noFill/>
        </p:spPr>
        <p:txBody>
          <a:bodyPr wrap="none">
            <a:normAutofit/>
          </a:bodyPr>
          <a:lstStyle/>
          <a:p>
            <a:pPr>
              <a:defRPr b="1" sz="2400">
                <a:solidFill>
                  <a:srgbClr val="003366"/>
                </a:solidFill>
              </a:defRPr>
            </a:pPr>
            <a:r>
              <a:t>SYNTHÈSE &amp; ENGAGEMENT</a:t>
            </a:r>
          </a:p>
        </p:txBody>
      </p:sp>
      <p:sp>
        <p:nvSpPr>
          <p:cNvPr id="5" name="TextBox 4"/>
          <p:cNvSpPr txBox="1"/>
          <p:nvPr/>
        </p:nvSpPr>
        <p:spPr>
          <a:xfrm>
            <a:off x="914400" y="2743200"/>
            <a:ext cx="7315200" cy="2743200"/>
          </a:xfrm>
          <a:prstGeom prst="rect">
            <a:avLst/>
          </a:prstGeom>
          <a:noFill/>
        </p:spPr>
        <p:txBody>
          <a:bodyPr wrap="square">
            <a:normAutofit/>
          </a:bodyPr>
          <a:lstStyle/>
          <a:p>
            <a:pPr algn="ctr">
              <a:defRPr sz="3200" b="1">
                <a:solidFill>
                  <a:srgbClr val="009999"/>
                </a:solidFill>
              </a:defRPr>
            </a:pPr>
            <a:r>
              <a:t>Rejoignez notre communauté de patients qui ont trouvé la paix de leur peau avec Dermadouce. Demandez votre consultation en ligne ou rendez-vous chez nous pour découvrir la solution de soins cutanés personnalisée qui vous attend.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