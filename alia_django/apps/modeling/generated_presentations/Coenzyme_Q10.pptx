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vital.png"/>
          <p:cNvPicPr>
            <a:picLocks noChangeAspect="1"/>
          </p:cNvPicPr>
          <p:nvPr/>
        </p:nvPicPr>
        <p:blipFill>
          <a:blip r:embed="rId2"/>
          <a:stretch>
            <a:fillRect/>
          </a:stretch>
        </p:blipFill>
        <p:spPr>
          <a:xfrm>
            <a:off x="4023360" y="731520"/>
            <a:ext cx="1097280" cy="1170432"/>
          </a:xfrm>
          <a:prstGeom prst="rect">
            <a:avLst/>
          </a:prstGeom>
        </p:spPr>
      </p:pic>
      <p:sp>
        <p:nvSpPr>
          <p:cNvPr id="3" name="Rectangle 2"/>
          <p:cNvSpPr/>
          <p:nvPr/>
        </p:nvSpPr>
        <p:spPr>
          <a:xfrm>
            <a:off x="0" y="2743200"/>
            <a:ext cx="9144000" cy="27432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9144000" cy="914400"/>
          </a:xfrm>
          <a:prstGeom prst="rect">
            <a:avLst/>
          </a:prstGeom>
          <a:noFill/>
        </p:spPr>
        <p:txBody>
          <a:bodyPr wrap="square">
            <a:normAutofit/>
          </a:bodyPr>
          <a:lstStyle/>
          <a:p>
            <a:pPr algn="ctr">
              <a:defRPr sz="5400" b="1">
                <a:solidFill>
                  <a:srgbClr val="FFFFFF"/>
                </a:solidFill>
              </a:defRPr>
            </a:pPr>
            <a:r>
              <a:t>Coenzyme Q10</a:t>
            </a:r>
          </a:p>
        </p:txBody>
      </p:sp>
      <p:sp>
        <p:nvSpPr>
          <p:cNvPr id="5" name="TextBox 4"/>
          <p:cNvSpPr txBox="1"/>
          <p:nvPr/>
        </p:nvSpPr>
        <p:spPr>
          <a:xfrm>
            <a:off x="0" y="4114800"/>
            <a:ext cx="9144000" cy="914400"/>
          </a:xfrm>
          <a:prstGeom prst="rect">
            <a:avLst/>
          </a:prstGeom>
          <a:noFill/>
        </p:spPr>
        <p:txBody>
          <a:bodyPr wrap="square">
            <a:normAutofit/>
          </a:bodyPr>
          <a:lstStyle/>
          <a:p>
            <a:pPr algn="ctr">
              <a:defRPr sz="2200" i="1">
                <a:solidFill>
                  <a:srgbClr val="009999"/>
                </a:solidFill>
              </a:defRPr>
            </a:pPr>
            <a:r>
              <a:t>Révolutionnez votre santé avec Coenzyme Q10, le complément alimentaire ultime pour un bien-être optimal.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ANALYSE ET ENJEUX</a:t>
            </a:r>
          </a:p>
        </p:txBody>
      </p:sp>
      <p:sp>
        <p:nvSpPr>
          <p:cNvPr id="5" name="TextBox 4"/>
          <p:cNvSpPr txBox="1"/>
          <p:nvPr/>
        </p:nvSpPr>
        <p:spPr>
          <a:xfrm>
            <a:off x="731520" y="1645920"/>
            <a:ext cx="7772400" cy="4572000"/>
          </a:xfrm>
          <a:prstGeom prst="rect">
            <a:avLst/>
          </a:prstGeom>
          <a:noFill/>
        </p:spPr>
        <p:txBody>
          <a:bodyPr wrap="square">
            <a:normAutofit/>
          </a:bodyPr>
          <a:lstStyle/>
          <a:p>
            <a:pPr>
              <a:defRPr sz="2200">
                <a:solidFill>
                  <a:srgbClr val="212121"/>
                </a:solidFill>
              </a:defRPr>
            </a:pPr>
            <a:r>
              <a:t>Les patients souffrent souvent de fatigue chronique, de douleurs musculaires et d'une faible fonction cardiaque. Le manque de Coenzyme Q10 (CoQ10) est à l'origine de ces problèmes, car cette coenzyme essentielle joue un rôle crucial dans la production d'énergie cellulaire. Les patients ont besoin d'un complément alimentaire de haute qualité pour compenser leur déficit en CoQ10.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LA RÉPONSE VITAL LABS</a:t>
            </a:r>
          </a:p>
        </p:txBody>
      </p:sp>
      <p:sp>
        <p:nvSpPr>
          <p:cNvPr id="5" name="TextBox 4"/>
          <p:cNvSpPr txBox="1"/>
          <p:nvPr/>
        </p:nvSpPr>
        <p:spPr>
          <a:xfrm>
            <a:off x="457200" y="1463040"/>
            <a:ext cx="4389120" cy="4572000"/>
          </a:xfrm>
          <a:prstGeom prst="rect">
            <a:avLst/>
          </a:prstGeom>
          <a:noFill/>
        </p:spPr>
        <p:txBody>
          <a:bodyPr wrap="square">
            <a:normAutofit/>
          </a:bodyPr>
          <a:lstStyle/>
          <a:p>
            <a:pPr>
              <a:defRPr sz="1800"/>
            </a:pPr>
            <a:r>
              <a:t>La Coenzyme Q10 de Vital est synthétisée à partir de sources naturelles et bénéficie d'une formule unique qui permet une absorption optimale. Notre CoQ10 agit comme un catalyseur pour les réactions métaboliques, augmentant ainsi la production d'énergie cellulaire et améliorant la fonction cardiaque.</a:t>
            </a:r>
          </a:p>
        </p:txBody>
      </p:sp>
      <p:pic>
        <p:nvPicPr>
          <p:cNvPr id="6" name="Picture 5" descr="image.png"/>
          <p:cNvPicPr>
            <a:picLocks noChangeAspect="1"/>
          </p:cNvPicPr>
          <p:nvPr/>
        </p:nvPicPr>
        <p:blipFill>
          <a:blip r:embed="rId3"/>
          <a:stretch>
            <a:fillRect/>
          </a:stretch>
        </p:blipFill>
        <p:spPr>
          <a:xfrm>
            <a:off x="5120640" y="1371600"/>
            <a:ext cx="3291840" cy="4389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PILIERS DE PERFORMANCE</a:t>
            </a:r>
          </a:p>
        </p:txBody>
      </p:sp>
      <p:sp>
        <p:nvSpPr>
          <p:cNvPr id="5" name="TextBox 4"/>
          <p:cNvSpPr txBox="1"/>
          <p:nvPr/>
        </p:nvSpPr>
        <p:spPr>
          <a:xfrm>
            <a:off x="731520" y="1371600"/>
            <a:ext cx="7772400" cy="5029200"/>
          </a:xfrm>
          <a:prstGeom prst="rect">
            <a:avLst/>
          </a:prstGeom>
          <a:noFill/>
        </p:spPr>
        <p:txBody>
          <a:bodyPr wrap="square">
            <a:normAutofit/>
          </a:bodyPr>
          <a:lstStyle/>
          <a:p>
            <a:pPr>
              <a:defRPr sz="1800"/>
            </a:pPr>
            <a:r>
              <a:t>- Effet sur la fatigue : Améliore la résistance aux efforts physiques.</a:t>
            </a:r>
            <a:br/>
            <a:r>
              <a:t>- Amélioration de la fonction cardiaque : Augmente le flux sanguin et réduit l'inflammation.</a:t>
            </a:r>
            <a:br/>
            <a:r>
              <a:t>- Protection contre les radicaux libres : Élimine les toxines qui endommagent les cellules.</a:t>
            </a:r>
            <a:br/>
            <a:r>
              <a:t>- Sécurité et efficacité : Garantie de qualité et tests cliniques rigoureux.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ENGAGEMENT QUALITÉ &amp; SCIENCE</a:t>
            </a:r>
          </a:p>
        </p:txBody>
      </p:sp>
      <p:sp>
        <p:nvSpPr>
          <p:cNvPr id="5" name="TextBox 4"/>
          <p:cNvSpPr txBox="1"/>
          <p:nvPr/>
        </p:nvSpPr>
        <p:spPr>
          <a:xfrm>
            <a:off x="731520" y="1371600"/>
            <a:ext cx="7772400" cy="2011680"/>
          </a:xfrm>
          <a:prstGeom prst="rect">
            <a:avLst/>
          </a:prstGeom>
          <a:noFill/>
        </p:spPr>
        <p:txBody>
          <a:bodyPr wrap="square">
            <a:normAutofit/>
          </a:bodyPr>
          <a:lstStyle/>
          <a:p>
            <a:pPr>
              <a:defRPr sz="2000"/>
            </a:pPr>
            <a:r>
              <a:t>Notre Coenzyme Q10 est fabriquée dans des conditions de haute pureté, avec une forme gélule qui facilite l'absorption et la bioavailabilité. Cette formule unique garantit une efficacité optimale pour les patients.</a:t>
            </a:r>
          </a:p>
        </p:txBody>
      </p:sp>
      <p:graphicFrame>
        <p:nvGraphicFramePr>
          <p:cNvPr id="6" name="Table 5"/>
          <p:cNvGraphicFramePr>
            <a:graphicFrameLocks noGrp="1"/>
          </p:cNvGraphicFramePr>
          <p:nvPr/>
        </p:nvGraphicFramePr>
        <p:xfrm>
          <a:off x="731520" y="3657600"/>
          <a:ext cx="7680960" cy="1828800"/>
        </p:xfrm>
        <a:graphic>
          <a:graphicData uri="http://schemas.openxmlformats.org/drawingml/2006/table">
            <a:tbl>
              <a:tblPr firstRow="1" bandRow="1">
                <a:tableStyleId>{5C22544A-7EE6-4342-B048-85BDC9FD1C3A}</a:tableStyleId>
              </a:tblPr>
              <a:tblGrid>
                <a:gridCol w="2011680"/>
                <a:gridCol w="5669280"/>
              </a:tblGrid>
              <a:tr h="457200">
                <a:tc>
                  <a:txBody>
                    <a:bodyPr/>
                    <a:lstStyle/>
                    <a:p>
                      <a:pPr>
                        <a:defRPr b="1" sz="1800">
                          <a:solidFill>
                            <a:srgbClr val="003366"/>
                          </a:solidFill>
                        </a:defRPr>
                      </a:pPr>
                      <a:r>
                        <a:t>Catégorie</a:t>
                      </a:r>
                    </a:p>
                  </a:txBody>
                  <a:tcPr>
                    <a:solidFill>
                      <a:srgbClr val="F5F5F5"/>
                    </a:solidFill>
                  </a:tcPr>
                </a:tc>
                <a:tc>
                  <a:txBody>
                    <a:bodyPr/>
                    <a:lstStyle/>
                    <a:p>
                      <a:pPr>
                        <a:defRPr sz="1800">
                          <a:solidFill>
                            <a:srgbClr val="212121"/>
                          </a:solidFill>
                        </a:defRPr>
                      </a:pPr>
                      <a:r>
                        <a:t>Brûle graisses, Cholestérol</a:t>
                      </a:r>
                    </a:p>
                  </a:txBody>
                  <a:tcPr/>
                </a:tc>
              </a:tr>
              <a:tr h="457200">
                <a:tc>
                  <a:txBody>
                    <a:bodyPr/>
                    <a:lstStyle/>
                    <a:p>
                      <a:pPr>
                        <a:defRPr b="1" sz="1800">
                          <a:solidFill>
                            <a:srgbClr val="003366"/>
                          </a:solidFill>
                        </a:defRPr>
                      </a:pPr>
                      <a:r>
                        <a:t>Classe</a:t>
                      </a:r>
                    </a:p>
                  </a:txBody>
                  <a:tcPr>
                    <a:solidFill>
                      <a:srgbClr val="F5F5F5"/>
                    </a:solidFill>
                  </a:tcPr>
                </a:tc>
                <a:tc>
                  <a:txBody>
                    <a:bodyPr/>
                    <a:lstStyle/>
                    <a:p>
                      <a:pPr>
                        <a:defRPr sz="1800">
                          <a:solidFill>
                            <a:srgbClr val="212121"/>
                          </a:solidFill>
                        </a:defRPr>
                      </a:pPr>
                      <a:r>
                        <a:t>Complément alimentaire</a:t>
                      </a:r>
                    </a:p>
                  </a:txBody>
                  <a:tcPr/>
                </a:tc>
              </a:tr>
              <a:tr h="457200">
                <a:tc>
                  <a:txBody>
                    <a:bodyPr/>
                    <a:lstStyle/>
                    <a:p>
                      <a:pPr>
                        <a:defRPr b="1" sz="1800">
                          <a:solidFill>
                            <a:srgbClr val="003366"/>
                          </a:solidFill>
                        </a:defRPr>
                      </a:pPr>
                      <a:r>
                        <a:t>Forme</a:t>
                      </a:r>
                    </a:p>
                  </a:txBody>
                  <a:tcPr>
                    <a:solidFill>
                      <a:srgbClr val="F5F5F5"/>
                    </a:solidFill>
                  </a:tcPr>
                </a:tc>
                <a:tc>
                  <a:txBody>
                    <a:bodyPr/>
                    <a:lstStyle/>
                    <a:p>
                      <a:pPr>
                        <a:defRPr sz="1800">
                          <a:solidFill>
                            <a:srgbClr val="212121"/>
                          </a:solidFill>
                        </a:defRPr>
                      </a:pPr>
                      <a:r>
                        <a:t>Gélule</a:t>
                      </a:r>
                    </a:p>
                  </a:txBody>
                  <a:tcPr/>
                </a:tc>
              </a:tr>
              <a:tr h="457200">
                <a:tc>
                  <a:txBody>
                    <a:bodyPr/>
                    <a:lstStyle/>
                    <a:p>
                      <a:pPr>
                        <a:defRPr b="1" sz="1800">
                          <a:solidFill>
                            <a:srgbClr val="003366"/>
                          </a:solidFill>
                        </a:defRPr>
                      </a:pPr>
                      <a:r>
                        <a:t>Conditionnement</a:t>
                      </a:r>
                    </a:p>
                  </a:txBody>
                  <a:tcPr>
                    <a:solidFill>
                      <a:srgbClr val="F5F5F5"/>
                    </a:solidFill>
                  </a:tcPr>
                </a:tc>
                <a:tc>
                  <a:txBody>
                    <a:bodyPr/>
                    <a:lstStyle/>
                    <a:p>
                      <a:pPr>
                        <a:defRPr sz="1800">
                          <a:solidFill>
                            <a:srgbClr val="212121"/>
                          </a:solidFill>
                        </a:defRPr>
                      </a:pPr>
                      <a:r>
                        <a:t>Boite de 30 gélules</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SYNTHÈSE &amp; ENGAGEMENT</a:t>
            </a:r>
          </a:p>
        </p:txBody>
      </p:sp>
      <p:sp>
        <p:nvSpPr>
          <p:cNvPr id="5" name="TextBox 4"/>
          <p:cNvSpPr txBox="1"/>
          <p:nvPr/>
        </p:nvSpPr>
        <p:spPr>
          <a:xfrm>
            <a:off x="914400" y="2743200"/>
            <a:ext cx="7315200" cy="2743200"/>
          </a:xfrm>
          <a:prstGeom prst="rect">
            <a:avLst/>
          </a:prstGeom>
          <a:noFill/>
        </p:spPr>
        <p:txBody>
          <a:bodyPr wrap="square">
            <a:normAutofit/>
          </a:bodyPr>
          <a:lstStyle/>
          <a:p>
            <a:pPr algn="ctr">
              <a:defRPr sz="3200" b="1">
                <a:solidFill>
                  <a:srgbClr val="009999"/>
                </a:solidFill>
              </a:defRPr>
            </a:pPr>
            <a:r>
              <a:t>Rejoignez le mouvement Vital et découvrez comment notre Coenzyme Q10 peut révolutionner votre santé. Demandez votre consultation médicale aujourd'hui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