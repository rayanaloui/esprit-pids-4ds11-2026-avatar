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_vital.png"/>
          <p:cNvPicPr>
            <a:picLocks noChangeAspect="1"/>
          </p:cNvPicPr>
          <p:nvPr/>
        </p:nvPicPr>
        <p:blipFill>
          <a:blip r:embed="rId2"/>
          <a:stretch>
            <a:fillRect/>
          </a:stretch>
        </p:blipFill>
        <p:spPr>
          <a:xfrm>
            <a:off x="4023360" y="731520"/>
            <a:ext cx="1097280" cy="1170432"/>
          </a:xfrm>
          <a:prstGeom prst="rect">
            <a:avLst/>
          </a:prstGeom>
        </p:spPr>
      </p:pic>
      <p:sp>
        <p:nvSpPr>
          <p:cNvPr id="3" name="Rectangle 2"/>
          <p:cNvSpPr/>
          <p:nvPr/>
        </p:nvSpPr>
        <p:spPr>
          <a:xfrm>
            <a:off x="0" y="2743200"/>
            <a:ext cx="9144000" cy="2743200"/>
          </a:xfrm>
          <a:prstGeom prst="rect">
            <a:avLst/>
          </a:prstGeom>
          <a:solidFill>
            <a:srgbClr val="003366"/>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3017520"/>
            <a:ext cx="9144000" cy="914400"/>
          </a:xfrm>
          <a:prstGeom prst="rect">
            <a:avLst/>
          </a:prstGeom>
          <a:noFill/>
        </p:spPr>
        <p:txBody>
          <a:bodyPr wrap="square">
            <a:normAutofit/>
          </a:bodyPr>
          <a:lstStyle/>
          <a:p>
            <a:pPr algn="ctr">
              <a:defRPr sz="5400" b="1">
                <a:solidFill>
                  <a:srgbClr val="FFFFFF"/>
                </a:solidFill>
              </a:defRPr>
            </a:pPr>
            <a:r>
              <a:t>Vaseline</a:t>
            </a:r>
          </a:p>
        </p:txBody>
      </p:sp>
      <p:sp>
        <p:nvSpPr>
          <p:cNvPr id="5" name="TextBox 4"/>
          <p:cNvSpPr txBox="1"/>
          <p:nvPr/>
        </p:nvSpPr>
        <p:spPr>
          <a:xfrm>
            <a:off x="0" y="4114800"/>
            <a:ext cx="9144000" cy="914400"/>
          </a:xfrm>
          <a:prstGeom prst="rect">
            <a:avLst/>
          </a:prstGeom>
          <a:noFill/>
        </p:spPr>
        <p:txBody>
          <a:bodyPr wrap="square">
            <a:normAutofit/>
          </a:bodyPr>
          <a:lstStyle/>
          <a:p>
            <a:pPr algn="ctr">
              <a:defRPr sz="2200" i="1">
                <a:solidFill>
                  <a:srgbClr val="009999"/>
                </a:solidFill>
              </a:defRPr>
            </a:pPr>
            <a:r>
              <a:t>Vitalisez votre vie avec Vaseline, le hydratant et lubrifiant par excellence.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ANALYSE ET ENJEUX</a:t>
            </a:r>
          </a:p>
        </p:txBody>
      </p:sp>
      <p:sp>
        <p:nvSpPr>
          <p:cNvPr id="5" name="TextBox 4"/>
          <p:cNvSpPr txBox="1"/>
          <p:nvPr/>
        </p:nvSpPr>
        <p:spPr>
          <a:xfrm>
            <a:off x="731520" y="1645920"/>
            <a:ext cx="7772400" cy="4572000"/>
          </a:xfrm>
          <a:prstGeom prst="rect">
            <a:avLst/>
          </a:prstGeom>
          <a:noFill/>
        </p:spPr>
        <p:txBody>
          <a:bodyPr wrap="square">
            <a:normAutofit/>
          </a:bodyPr>
          <a:lstStyle/>
          <a:p>
            <a:pPr>
              <a:defRPr sz="2200">
                <a:solidFill>
                  <a:srgbClr val="212121"/>
                </a:solidFill>
              </a:defRPr>
            </a:pPr>
            <a:r>
              <a:t>Le manque d'hydratation et de protection peut entraîner des problèmes de peau tels que la sécheresse, les irritations et l'apparence saine. Les patients souffrent également de difficultés pour trouver un produit qui répond à leurs besoins spécifiques.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LA RÉPONSE VITAL LABS</a:t>
            </a:r>
          </a:p>
        </p:txBody>
      </p:sp>
      <p:sp>
        <p:nvSpPr>
          <p:cNvPr id="5" name="TextBox 4"/>
          <p:cNvSpPr txBox="1"/>
          <p:nvPr/>
        </p:nvSpPr>
        <p:spPr>
          <a:xfrm>
            <a:off x="457200" y="1463040"/>
            <a:ext cx="4389120" cy="4572000"/>
          </a:xfrm>
          <a:prstGeom prst="rect">
            <a:avLst/>
          </a:prstGeom>
          <a:noFill/>
        </p:spPr>
        <p:txBody>
          <a:bodyPr wrap="square">
            <a:normAutofit/>
          </a:bodyPr>
          <a:lstStyle/>
          <a:p>
            <a:pPr>
              <a:defRPr sz="1800"/>
            </a:pPr>
            <a:r>
              <a:t>Vaseline propose une solution unique en combinant des ingrédients naturels et scientifiquement étudiés pour fournir une hydratation profonde et une protection parfaite. Notre formule est conçue pour répondre aux besoins de tous les types de peau, sans compromis.</a:t>
            </a:r>
          </a:p>
        </p:txBody>
      </p:sp>
      <p:pic>
        <p:nvPicPr>
          <p:cNvPr id="6" name="Picture 5" descr="image.png"/>
          <p:cNvPicPr>
            <a:picLocks noChangeAspect="1"/>
          </p:cNvPicPr>
          <p:nvPr/>
        </p:nvPicPr>
        <p:blipFill>
          <a:blip r:embed="rId3"/>
          <a:stretch>
            <a:fillRect/>
          </a:stretch>
        </p:blipFill>
        <p:spPr>
          <a:xfrm>
            <a:off x="5120640" y="1371600"/>
            <a:ext cx="3291840" cy="43891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PILIERS DE PERFORMANCE</a:t>
            </a:r>
          </a:p>
        </p:txBody>
      </p:sp>
      <p:sp>
        <p:nvSpPr>
          <p:cNvPr id="5" name="TextBox 4"/>
          <p:cNvSpPr txBox="1"/>
          <p:nvPr/>
        </p:nvSpPr>
        <p:spPr>
          <a:xfrm>
            <a:off x="731520" y="1371600"/>
            <a:ext cx="7772400" cy="5029200"/>
          </a:xfrm>
          <a:prstGeom prst="rect">
            <a:avLst/>
          </a:prstGeom>
          <a:noFill/>
        </p:spPr>
        <p:txBody>
          <a:bodyPr wrap="square">
            <a:normAutofit/>
          </a:bodyPr>
          <a:lstStyle/>
          <a:p>
            <a:pPr>
              <a:defRPr sz="1800"/>
            </a:pPr>
            <a:r>
              <a:t>1. Qualité des ingrédients : Utilisons des ingrédients naturels et scientifiquement étudiés.</a:t>
            </a:r>
            <a:br/>
            <a:r>
              <a:t>2. Formule adaptée : Conçue pour répondre aux besoins de tous les types de peau.</a:t>
            </a:r>
            <a:br/>
            <a:r>
              <a:t>3. Efficacité garantie : Résultats tangibles après l'utilisation.</a:t>
            </a:r>
            <a:br/>
            <a:r>
              <a:t>4. Sécurité sans compromis : Protégées par des tests rigoureux et une supervision médicale.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ENGAGEMENT QUALITÉ &amp; SCIENCE</a:t>
            </a:r>
          </a:p>
        </p:txBody>
      </p:sp>
      <p:sp>
        <p:nvSpPr>
          <p:cNvPr id="5" name="TextBox 4"/>
          <p:cNvSpPr txBox="1"/>
          <p:nvPr/>
        </p:nvSpPr>
        <p:spPr>
          <a:xfrm>
            <a:off x="731520" y="1371600"/>
            <a:ext cx="7772400" cy="2011680"/>
          </a:xfrm>
          <a:prstGeom prst="rect">
            <a:avLst/>
          </a:prstGeom>
          <a:noFill/>
        </p:spPr>
        <p:txBody>
          <a:bodyPr wrap="square">
            <a:normAutofit/>
          </a:bodyPr>
          <a:lstStyle/>
          <a:p>
            <a:pPr>
              <a:defRPr sz="2000"/>
            </a:pPr>
            <a:r>
              <a:t>Notre crème est fabriquée à partir de la meilleure qualité, avec un mélange unique de huiles et graisses naturelles. Notre forme Crème permet une absorption parfaite et une utilisation facile.</a:t>
            </a:r>
          </a:p>
        </p:txBody>
      </p:sp>
      <p:graphicFrame>
        <p:nvGraphicFramePr>
          <p:cNvPr id="6" name="Table 5"/>
          <p:cNvGraphicFramePr>
            <a:graphicFrameLocks noGrp="1"/>
          </p:cNvGraphicFramePr>
          <p:nvPr/>
        </p:nvGraphicFramePr>
        <p:xfrm>
          <a:off x="731520" y="3657600"/>
          <a:ext cx="7680960" cy="1828800"/>
        </p:xfrm>
        <a:graphic>
          <a:graphicData uri="http://schemas.openxmlformats.org/drawingml/2006/table">
            <a:tbl>
              <a:tblPr firstRow="1" bandRow="1">
                <a:tableStyleId>{5C22544A-7EE6-4342-B048-85BDC9FD1C3A}</a:tableStyleId>
              </a:tblPr>
              <a:tblGrid>
                <a:gridCol w="2011680"/>
                <a:gridCol w="5669280"/>
              </a:tblGrid>
              <a:tr h="457200">
                <a:tc>
                  <a:txBody>
                    <a:bodyPr/>
                    <a:lstStyle/>
                    <a:p>
                      <a:pPr>
                        <a:defRPr b="1" sz="1800">
                          <a:solidFill>
                            <a:srgbClr val="003366"/>
                          </a:solidFill>
                        </a:defRPr>
                      </a:pPr>
                      <a:r>
                        <a:t>Catégorie</a:t>
                      </a:r>
                    </a:p>
                  </a:txBody>
                  <a:tcPr>
                    <a:solidFill>
                      <a:srgbClr val="F5F5F5"/>
                    </a:solidFill>
                  </a:tcPr>
                </a:tc>
                <a:tc>
                  <a:txBody>
                    <a:bodyPr/>
                    <a:lstStyle/>
                    <a:p>
                      <a:pPr>
                        <a:defRPr sz="1800">
                          <a:solidFill>
                            <a:srgbClr val="212121"/>
                          </a:solidFill>
                        </a:defRPr>
                      </a:pPr>
                      <a:r>
                        <a:t>Peau</a:t>
                      </a:r>
                    </a:p>
                  </a:txBody>
                  <a:tcPr/>
                </a:tc>
              </a:tr>
              <a:tr h="457200">
                <a:tc>
                  <a:txBody>
                    <a:bodyPr/>
                    <a:lstStyle/>
                    <a:p>
                      <a:pPr>
                        <a:defRPr b="1" sz="1800">
                          <a:solidFill>
                            <a:srgbClr val="003366"/>
                          </a:solidFill>
                        </a:defRPr>
                      </a:pPr>
                      <a:r>
                        <a:t>Classe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Forme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Conditionnement</a:t>
                      </a:r>
                    </a:p>
                  </a:txBody>
                  <a:tcPr>
                    <a:solidFill>
                      <a:srgbClr val="F5F5F5"/>
                    </a:solidFill>
                  </a:tcPr>
                </a:tc>
                <a:tc>
                  <a:txBody>
                    <a:bodyPr/>
                    <a:lstStyle/>
                    <a:p>
                      <a:pPr>
                        <a:defRPr sz="1800">
                          <a:solidFill>
                            <a:srgbClr val="212121"/>
                          </a:solidFill>
                        </a:defRPr>
                      </a:pPr>
                      <a:r>
                        <a:t>Peau douce, lisse et visiblement saine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SYNTHÈSE &amp; ENGAGEMENT</a:t>
            </a:r>
          </a:p>
        </p:txBody>
      </p:sp>
      <p:sp>
        <p:nvSpPr>
          <p:cNvPr id="5" name="TextBox 4"/>
          <p:cNvSpPr txBox="1"/>
          <p:nvPr/>
        </p:nvSpPr>
        <p:spPr>
          <a:xfrm>
            <a:off x="914400" y="2743200"/>
            <a:ext cx="7315200" cy="2743200"/>
          </a:xfrm>
          <a:prstGeom prst="rect">
            <a:avLst/>
          </a:prstGeom>
          <a:noFill/>
        </p:spPr>
        <p:txBody>
          <a:bodyPr wrap="square">
            <a:normAutofit/>
          </a:bodyPr>
          <a:lstStyle/>
          <a:p>
            <a:pPr algn="ctr">
              <a:defRPr sz="3200" b="1">
                <a:solidFill>
                  <a:srgbClr val="009999"/>
                </a:solidFill>
              </a:defRPr>
            </a:pPr>
            <a:r>
              <a:t>Rejoignez le mouvement Vitalisant ! Découvrez la différence de Vaseline et vivez une vie plus hydratée, plus protégée.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