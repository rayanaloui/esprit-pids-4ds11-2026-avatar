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_vital.png"/>
          <p:cNvPicPr>
            <a:picLocks noChangeAspect="1"/>
          </p:cNvPicPr>
          <p:nvPr/>
        </p:nvPicPr>
        <p:blipFill>
          <a:blip r:embed="rId2"/>
          <a:stretch>
            <a:fillRect/>
          </a:stretch>
        </p:blipFill>
        <p:spPr>
          <a:xfrm>
            <a:off x="4023360" y="731520"/>
            <a:ext cx="1097280" cy="1170432"/>
          </a:xfrm>
          <a:prstGeom prst="rect">
            <a:avLst/>
          </a:prstGeom>
        </p:spPr>
      </p:pic>
      <p:sp>
        <p:nvSpPr>
          <p:cNvPr id="3" name="Rectangle 2"/>
          <p:cNvSpPr/>
          <p:nvPr/>
        </p:nvSpPr>
        <p:spPr>
          <a:xfrm>
            <a:off x="0" y="2743200"/>
            <a:ext cx="9144000" cy="2743200"/>
          </a:xfrm>
          <a:prstGeom prst="rect">
            <a:avLst/>
          </a:prstGeom>
          <a:solidFill>
            <a:srgbClr val="003366"/>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3017520"/>
            <a:ext cx="9144000" cy="914400"/>
          </a:xfrm>
          <a:prstGeom prst="rect">
            <a:avLst/>
          </a:prstGeom>
          <a:noFill/>
        </p:spPr>
        <p:txBody>
          <a:bodyPr wrap="square">
            <a:normAutofit/>
          </a:bodyPr>
          <a:lstStyle/>
          <a:p>
            <a:pPr algn="ctr">
              <a:defRPr sz="5400" b="1">
                <a:solidFill>
                  <a:srgbClr val="FFFFFF"/>
                </a:solidFill>
              </a:defRPr>
            </a:pPr>
            <a:r>
              <a:t>Vaseline</a:t>
            </a:r>
          </a:p>
        </p:txBody>
      </p:sp>
      <p:sp>
        <p:nvSpPr>
          <p:cNvPr id="5" name="TextBox 4"/>
          <p:cNvSpPr txBox="1"/>
          <p:nvPr/>
        </p:nvSpPr>
        <p:spPr>
          <a:xfrm>
            <a:off x="0" y="4114800"/>
            <a:ext cx="9144000" cy="914400"/>
          </a:xfrm>
          <a:prstGeom prst="rect">
            <a:avLst/>
          </a:prstGeom>
          <a:noFill/>
        </p:spPr>
        <p:txBody>
          <a:bodyPr wrap="square">
            <a:normAutofit/>
          </a:bodyPr>
          <a:lstStyle/>
          <a:p>
            <a:pPr algn="ctr">
              <a:defRPr sz="2200" i="1">
                <a:solidFill>
                  <a:srgbClr val="009999"/>
                </a:solidFill>
              </a:defRPr>
            </a:pPr>
            <a:r>
              <a:t>Vital : le choix naturel pour un corps hydraté et en bonne santé.</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9999"/>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vital.png"/>
          <p:cNvPicPr>
            <a:picLocks noChangeAspect="1"/>
          </p:cNvPicPr>
          <p:nvPr/>
        </p:nvPicPr>
        <p:blipFill>
          <a:blip r:embed="rId2"/>
          <a:stretch>
            <a:fillRect/>
          </a:stretch>
        </p:blipFill>
        <p:spPr>
          <a:xfrm>
            <a:off x="8046720" y="182880"/>
            <a:ext cx="731520" cy="780288"/>
          </a:xfrm>
          <a:prstGeom prst="rect">
            <a:avLst/>
          </a:prstGeom>
        </p:spPr>
      </p:pic>
      <p:sp>
        <p:nvSpPr>
          <p:cNvPr id="4" name="TextBox 3"/>
          <p:cNvSpPr txBox="1"/>
          <p:nvPr/>
        </p:nvSpPr>
        <p:spPr>
          <a:xfrm>
            <a:off x="365760" y="274320"/>
            <a:ext cx="7132320" cy="914400"/>
          </a:xfrm>
          <a:prstGeom prst="rect">
            <a:avLst/>
          </a:prstGeom>
          <a:noFill/>
        </p:spPr>
        <p:txBody>
          <a:bodyPr wrap="none">
            <a:normAutofit/>
          </a:bodyPr>
          <a:lstStyle/>
          <a:p>
            <a:pPr>
              <a:defRPr b="1" sz="2400">
                <a:solidFill>
                  <a:srgbClr val="003366"/>
                </a:solidFill>
              </a:defRPr>
            </a:pPr>
            <a:r>
              <a:t>ANALYSE ET ENJEUX</a:t>
            </a:r>
          </a:p>
        </p:txBody>
      </p:sp>
      <p:sp>
        <p:nvSpPr>
          <p:cNvPr id="5" name="TextBox 4"/>
          <p:cNvSpPr txBox="1"/>
          <p:nvPr/>
        </p:nvSpPr>
        <p:spPr>
          <a:xfrm>
            <a:off x="731520" y="1645920"/>
            <a:ext cx="7772400" cy="4572000"/>
          </a:xfrm>
          <a:prstGeom prst="rect">
            <a:avLst/>
          </a:prstGeom>
          <a:noFill/>
        </p:spPr>
        <p:txBody>
          <a:bodyPr wrap="square">
            <a:normAutofit/>
          </a:bodyPr>
          <a:lstStyle/>
          <a:p>
            <a:pPr>
              <a:defRPr sz="2200">
                <a:solidFill>
                  <a:srgbClr val="212121"/>
                </a:solidFill>
              </a:defRPr>
            </a:pPr>
            <a:r>
              <a:t>Les patients souffrent souvent de peau sèche, irritée et déséquilibrée. La recherche d'un produit qui apporte à la fois l'hydratation et le lubrification est un défi quotidien. Les patients sont prêts à investir dans une solution qui leur permettra de retrouver la douceur et la flexibilité de leur peau.</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9999"/>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vital.png"/>
          <p:cNvPicPr>
            <a:picLocks noChangeAspect="1"/>
          </p:cNvPicPr>
          <p:nvPr/>
        </p:nvPicPr>
        <p:blipFill>
          <a:blip r:embed="rId2"/>
          <a:stretch>
            <a:fillRect/>
          </a:stretch>
        </p:blipFill>
        <p:spPr>
          <a:xfrm>
            <a:off x="8046720" y="182880"/>
            <a:ext cx="731520" cy="780288"/>
          </a:xfrm>
          <a:prstGeom prst="rect">
            <a:avLst/>
          </a:prstGeom>
        </p:spPr>
      </p:pic>
      <p:sp>
        <p:nvSpPr>
          <p:cNvPr id="4" name="TextBox 3"/>
          <p:cNvSpPr txBox="1"/>
          <p:nvPr/>
        </p:nvSpPr>
        <p:spPr>
          <a:xfrm>
            <a:off x="365760" y="274320"/>
            <a:ext cx="7132320" cy="914400"/>
          </a:xfrm>
          <a:prstGeom prst="rect">
            <a:avLst/>
          </a:prstGeom>
          <a:noFill/>
        </p:spPr>
        <p:txBody>
          <a:bodyPr wrap="none">
            <a:normAutofit/>
          </a:bodyPr>
          <a:lstStyle/>
          <a:p>
            <a:pPr>
              <a:defRPr b="1" sz="2400">
                <a:solidFill>
                  <a:srgbClr val="003366"/>
                </a:solidFill>
              </a:defRPr>
            </a:pPr>
            <a:r>
              <a:t>LA RÉPONSE VITAL LABS</a:t>
            </a:r>
          </a:p>
        </p:txBody>
      </p:sp>
      <p:sp>
        <p:nvSpPr>
          <p:cNvPr id="5" name="TextBox 4"/>
          <p:cNvSpPr txBox="1"/>
          <p:nvPr/>
        </p:nvSpPr>
        <p:spPr>
          <a:xfrm>
            <a:off x="457200" y="1463040"/>
            <a:ext cx="4389120" cy="4572000"/>
          </a:xfrm>
          <a:prstGeom prst="rect">
            <a:avLst/>
          </a:prstGeom>
          <a:noFill/>
        </p:spPr>
        <p:txBody>
          <a:bodyPr wrap="square">
            <a:normAutofit/>
          </a:bodyPr>
          <a:lstStyle/>
          <a:p>
            <a:pPr>
              <a:defRPr sz="1800"/>
            </a:pPr>
            <a:r>
              <a:t>Vaseline, créée par Vital, utilise des ingrédients naturels comme le cire d'abeille et l'huile de coco pour apporter une hydratation profonde à la peau. Son mode d'action unique permet de créer un film protecteur qui réduit l'inflammation et améliore la barrière cutanée, ce qui en fait l'option idéale pour les patients souffrant de peau sèche ou irritée.</a:t>
            </a:r>
          </a:p>
        </p:txBody>
      </p:sp>
      <p:pic>
        <p:nvPicPr>
          <p:cNvPr id="6" name="Picture 5" descr="image.png"/>
          <p:cNvPicPr>
            <a:picLocks noChangeAspect="1"/>
          </p:cNvPicPr>
          <p:nvPr/>
        </p:nvPicPr>
        <p:blipFill>
          <a:blip r:embed="rId3"/>
          <a:stretch>
            <a:fillRect/>
          </a:stretch>
        </p:blipFill>
        <p:spPr>
          <a:xfrm>
            <a:off x="5120640" y="1371600"/>
            <a:ext cx="3291840" cy="438912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9999"/>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vital.png"/>
          <p:cNvPicPr>
            <a:picLocks noChangeAspect="1"/>
          </p:cNvPicPr>
          <p:nvPr/>
        </p:nvPicPr>
        <p:blipFill>
          <a:blip r:embed="rId2"/>
          <a:stretch>
            <a:fillRect/>
          </a:stretch>
        </p:blipFill>
        <p:spPr>
          <a:xfrm>
            <a:off x="8046720" y="182880"/>
            <a:ext cx="731520" cy="780288"/>
          </a:xfrm>
          <a:prstGeom prst="rect">
            <a:avLst/>
          </a:prstGeom>
        </p:spPr>
      </p:pic>
      <p:sp>
        <p:nvSpPr>
          <p:cNvPr id="4" name="TextBox 3"/>
          <p:cNvSpPr txBox="1"/>
          <p:nvPr/>
        </p:nvSpPr>
        <p:spPr>
          <a:xfrm>
            <a:off x="365760" y="274320"/>
            <a:ext cx="7132320" cy="914400"/>
          </a:xfrm>
          <a:prstGeom prst="rect">
            <a:avLst/>
          </a:prstGeom>
          <a:noFill/>
        </p:spPr>
        <p:txBody>
          <a:bodyPr wrap="none">
            <a:normAutofit/>
          </a:bodyPr>
          <a:lstStyle/>
          <a:p>
            <a:pPr>
              <a:defRPr b="1" sz="2400">
                <a:solidFill>
                  <a:srgbClr val="003366"/>
                </a:solidFill>
              </a:defRPr>
            </a:pPr>
            <a:r>
              <a:t>PILIERS DE PERFORMANCE</a:t>
            </a:r>
          </a:p>
        </p:txBody>
      </p:sp>
      <p:sp>
        <p:nvSpPr>
          <p:cNvPr id="5" name="TextBox 4"/>
          <p:cNvSpPr txBox="1"/>
          <p:nvPr/>
        </p:nvSpPr>
        <p:spPr>
          <a:xfrm>
            <a:off x="731520" y="1371600"/>
            <a:ext cx="7772400" cy="5029200"/>
          </a:xfrm>
          <a:prstGeom prst="rect">
            <a:avLst/>
          </a:prstGeom>
          <a:noFill/>
        </p:spPr>
        <p:txBody>
          <a:bodyPr wrap="square">
            <a:normAutofit/>
          </a:bodyPr>
          <a:lstStyle/>
          <a:p>
            <a:pPr>
              <a:defRPr sz="1800"/>
            </a:pPr>
            <a:r>
              <a:t>- Hydratation naturelle : Vaseline utilise des ingrédients naturels pour apporter une hydratation profonde à la peau.</a:t>
            </a:r>
            <a:br/>
            <a:r>
              <a:t>- Lubrification durable : Le produit crée un film protecteur qui réduit l'inflammation et améliore la barrière cutanée.</a:t>
            </a:r>
            <a:br/>
            <a:r>
              <a:t>- Sécurité garantie : Vaseline est conçu sans parfum, sans colorant et sans allergène pour assurer une expérience de peau saine.</a:t>
            </a:r>
            <a:br/>
            <a:r>
              <a:t>- Résistance à l'eau : Le produit repose sur un système de lubrification unique qui permet à la peau de rester hydratée même après avoir été soumise à des activités physiques intenses.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9999"/>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vital.png"/>
          <p:cNvPicPr>
            <a:picLocks noChangeAspect="1"/>
          </p:cNvPicPr>
          <p:nvPr/>
        </p:nvPicPr>
        <p:blipFill>
          <a:blip r:embed="rId2"/>
          <a:stretch>
            <a:fillRect/>
          </a:stretch>
        </p:blipFill>
        <p:spPr>
          <a:xfrm>
            <a:off x="8046720" y="182880"/>
            <a:ext cx="731520" cy="780288"/>
          </a:xfrm>
          <a:prstGeom prst="rect">
            <a:avLst/>
          </a:prstGeom>
        </p:spPr>
      </p:pic>
      <p:sp>
        <p:nvSpPr>
          <p:cNvPr id="4" name="TextBox 3"/>
          <p:cNvSpPr txBox="1"/>
          <p:nvPr/>
        </p:nvSpPr>
        <p:spPr>
          <a:xfrm>
            <a:off x="365760" y="274320"/>
            <a:ext cx="7132320" cy="914400"/>
          </a:xfrm>
          <a:prstGeom prst="rect">
            <a:avLst/>
          </a:prstGeom>
          <a:noFill/>
        </p:spPr>
        <p:txBody>
          <a:bodyPr wrap="none">
            <a:normAutofit/>
          </a:bodyPr>
          <a:lstStyle/>
          <a:p>
            <a:pPr>
              <a:defRPr b="1" sz="2400">
                <a:solidFill>
                  <a:srgbClr val="003366"/>
                </a:solidFill>
              </a:defRPr>
            </a:pPr>
            <a:r>
              <a:t>ENGAGEMENT QUALITÉ &amp; SCIENCE</a:t>
            </a:r>
          </a:p>
        </p:txBody>
      </p:sp>
      <p:sp>
        <p:nvSpPr>
          <p:cNvPr id="5" name="TextBox 4"/>
          <p:cNvSpPr txBox="1"/>
          <p:nvPr/>
        </p:nvSpPr>
        <p:spPr>
          <a:xfrm>
            <a:off x="731520" y="1371600"/>
            <a:ext cx="7772400" cy="2011680"/>
          </a:xfrm>
          <a:prstGeom prst="rect">
            <a:avLst/>
          </a:prstGeom>
          <a:noFill/>
        </p:spPr>
        <p:txBody>
          <a:bodyPr wrap="square">
            <a:normAutofit/>
          </a:bodyPr>
          <a:lstStyle/>
          <a:p>
            <a:pPr>
              <a:defRPr sz="2000"/>
            </a:pPr>
            <a:r>
              <a:t>Vaseline est fabriquée avec une excellence de fabrication exceptionnelle, utilisant des ingrédients naturels de haute qualité. La forme Crème permet un excellent absorbement et une distribution uniforme sur la peau, offrant ainsi une expérience de peau saine et hydratée.</a:t>
            </a:r>
          </a:p>
        </p:txBody>
      </p:sp>
      <p:graphicFrame>
        <p:nvGraphicFramePr>
          <p:cNvPr id="6" name="Table 5"/>
          <p:cNvGraphicFramePr>
            <a:graphicFrameLocks noGrp="1"/>
          </p:cNvGraphicFramePr>
          <p:nvPr/>
        </p:nvGraphicFramePr>
        <p:xfrm>
          <a:off x="731520" y="3657600"/>
          <a:ext cx="7680960" cy="1828800"/>
        </p:xfrm>
        <a:graphic>
          <a:graphicData uri="http://schemas.openxmlformats.org/drawingml/2006/table">
            <a:tbl>
              <a:tblPr firstRow="1" bandRow="1">
                <a:tableStyleId>{5C22544A-7EE6-4342-B048-85BDC9FD1C3A}</a:tableStyleId>
              </a:tblPr>
              <a:tblGrid>
                <a:gridCol w="2011680"/>
                <a:gridCol w="5669280"/>
              </a:tblGrid>
              <a:tr h="457200">
                <a:tc>
                  <a:txBody>
                    <a:bodyPr/>
                    <a:lstStyle/>
                    <a:p>
                      <a:pPr>
                        <a:defRPr b="1" sz="1800">
                          <a:solidFill>
                            <a:srgbClr val="003366"/>
                          </a:solidFill>
                        </a:defRPr>
                      </a:pPr>
                      <a:r>
                        <a:t>Catégorie</a:t>
                      </a:r>
                    </a:p>
                  </a:txBody>
                  <a:tcPr>
                    <a:solidFill>
                      <a:srgbClr val="F5F5F5"/>
                    </a:solidFill>
                  </a:tcPr>
                </a:tc>
                <a:tc>
                  <a:txBody>
                    <a:bodyPr/>
                    <a:lstStyle/>
                    <a:p>
                      <a:pPr>
                        <a:defRPr sz="1800">
                          <a:solidFill>
                            <a:srgbClr val="212121"/>
                          </a:solidFill>
                        </a:defRPr>
                      </a:pPr>
                      <a:r>
                        <a:t>Peau</a:t>
                      </a:r>
                    </a:p>
                  </a:txBody>
                  <a:tcPr/>
                </a:tc>
              </a:tr>
              <a:tr h="457200">
                <a:tc>
                  <a:txBody>
                    <a:bodyPr/>
                    <a:lstStyle/>
                    <a:p>
                      <a:pPr>
                        <a:defRPr b="1" sz="1800">
                          <a:solidFill>
                            <a:srgbClr val="003366"/>
                          </a:solidFill>
                        </a:defRPr>
                      </a:pPr>
                      <a:r>
                        <a:t>Classe</a:t>
                      </a:r>
                    </a:p>
                  </a:txBody>
                  <a:tcPr>
                    <a:solidFill>
                      <a:srgbClr val="F5F5F5"/>
                    </a:solidFill>
                  </a:tcPr>
                </a:tc>
                <a:tc>
                  <a:txBody>
                    <a:bodyPr/>
                    <a:lstStyle/>
                    <a:p>
                      <a:pPr>
                        <a:defRPr sz="1800">
                          <a:solidFill>
                            <a:srgbClr val="212121"/>
                          </a:solidFill>
                        </a:defRPr>
                      </a:pPr>
                      <a:r>
                        <a:t>Crème</a:t>
                      </a:r>
                    </a:p>
                  </a:txBody>
                  <a:tcPr/>
                </a:tc>
              </a:tr>
              <a:tr h="457200">
                <a:tc>
                  <a:txBody>
                    <a:bodyPr/>
                    <a:lstStyle/>
                    <a:p>
                      <a:pPr>
                        <a:defRPr b="1" sz="1800">
                          <a:solidFill>
                            <a:srgbClr val="003366"/>
                          </a:solidFill>
                        </a:defRPr>
                      </a:pPr>
                      <a:r>
                        <a:t>Forme</a:t>
                      </a:r>
                    </a:p>
                  </a:txBody>
                  <a:tcPr>
                    <a:solidFill>
                      <a:srgbClr val="F5F5F5"/>
                    </a:solidFill>
                  </a:tcPr>
                </a:tc>
                <a:tc>
                  <a:txBody>
                    <a:bodyPr/>
                    <a:lstStyle/>
                    <a:p>
                      <a:pPr>
                        <a:defRPr sz="1800">
                          <a:solidFill>
                            <a:srgbClr val="212121"/>
                          </a:solidFill>
                        </a:defRPr>
                      </a:pPr>
                      <a:r>
                        <a:t>Crème</a:t>
                      </a:r>
                    </a:p>
                  </a:txBody>
                  <a:tcPr/>
                </a:tc>
              </a:tr>
              <a:tr h="457200">
                <a:tc>
                  <a:txBody>
                    <a:bodyPr/>
                    <a:lstStyle/>
                    <a:p>
                      <a:pPr>
                        <a:defRPr b="1" sz="1800">
                          <a:solidFill>
                            <a:srgbClr val="003366"/>
                          </a:solidFill>
                        </a:defRPr>
                      </a:pPr>
                      <a:r>
                        <a:t>Conditionnement</a:t>
                      </a:r>
                    </a:p>
                  </a:txBody>
                  <a:tcPr>
                    <a:solidFill>
                      <a:srgbClr val="F5F5F5"/>
                    </a:solidFill>
                  </a:tcPr>
                </a:tc>
                <a:tc>
                  <a:txBody>
                    <a:bodyPr/>
                    <a:lstStyle/>
                    <a:p>
                      <a:pPr>
                        <a:defRPr sz="1800">
                          <a:solidFill>
                            <a:srgbClr val="212121"/>
                          </a:solidFill>
                        </a:defRPr>
                      </a:pPr>
                      <a:r>
                        <a:t>Peau douce, lisse et visiblement saine</a:t>
                      </a:r>
                    </a:p>
                  </a:txBody>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9999"/>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vital.png"/>
          <p:cNvPicPr>
            <a:picLocks noChangeAspect="1"/>
          </p:cNvPicPr>
          <p:nvPr/>
        </p:nvPicPr>
        <p:blipFill>
          <a:blip r:embed="rId2"/>
          <a:stretch>
            <a:fillRect/>
          </a:stretch>
        </p:blipFill>
        <p:spPr>
          <a:xfrm>
            <a:off x="8046720" y="182880"/>
            <a:ext cx="731520" cy="780288"/>
          </a:xfrm>
          <a:prstGeom prst="rect">
            <a:avLst/>
          </a:prstGeom>
        </p:spPr>
      </p:pic>
      <p:sp>
        <p:nvSpPr>
          <p:cNvPr id="4" name="TextBox 3"/>
          <p:cNvSpPr txBox="1"/>
          <p:nvPr/>
        </p:nvSpPr>
        <p:spPr>
          <a:xfrm>
            <a:off x="365760" y="274320"/>
            <a:ext cx="7132320" cy="914400"/>
          </a:xfrm>
          <a:prstGeom prst="rect">
            <a:avLst/>
          </a:prstGeom>
          <a:noFill/>
        </p:spPr>
        <p:txBody>
          <a:bodyPr wrap="none">
            <a:normAutofit/>
          </a:bodyPr>
          <a:lstStyle/>
          <a:p>
            <a:pPr>
              <a:defRPr b="1" sz="2400">
                <a:solidFill>
                  <a:srgbClr val="003366"/>
                </a:solidFill>
              </a:defRPr>
            </a:pPr>
            <a:r>
              <a:t>SYNTHÈSE &amp; ENGAGEMENT</a:t>
            </a:r>
          </a:p>
        </p:txBody>
      </p:sp>
      <p:sp>
        <p:nvSpPr>
          <p:cNvPr id="5" name="TextBox 4"/>
          <p:cNvSpPr txBox="1"/>
          <p:nvPr/>
        </p:nvSpPr>
        <p:spPr>
          <a:xfrm>
            <a:off x="914400" y="2743200"/>
            <a:ext cx="7315200" cy="2743200"/>
          </a:xfrm>
          <a:prstGeom prst="rect">
            <a:avLst/>
          </a:prstGeom>
          <a:noFill/>
        </p:spPr>
        <p:txBody>
          <a:bodyPr wrap="square">
            <a:normAutofit/>
          </a:bodyPr>
          <a:lstStyle/>
          <a:p>
            <a:pPr algn="ctr">
              <a:defRPr sz="3200" b="1">
                <a:solidFill>
                  <a:srgbClr val="009999"/>
                </a:solidFill>
              </a:defRPr>
            </a:pPr>
            <a:r>
              <a:t>Rejoignez le mouvement Vital et découvrez l'avantage de Vaseline pour votre peau. Investissez dans votre bien-être et vos soins de peau avec notre produit naturellement hydratant et lubrifiant.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